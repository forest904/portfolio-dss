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smooth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Frontiera efficiente</c:v>
                </c:pt>
              </c:strCache>
            </c:strRef>
          </c:tx>
          <c:spPr>
            <a:ln w="31750">
              <a:solidFill>
                <a:srgbClr val="0F5B4C"/>
              </a:solidFill>
            </a:ln>
          </c:spPr>
          <c:marker>
            <c:symbol val="none"/>
          </c:marker>
          <c:xVal>
            <c:numRef>
              <c:f>Sheet1!$A$2:$A$22</c:f>
              <c:numCache>
                <c:formatCode>General</c:formatCode>
                <c:ptCount val="21"/>
                <c:pt idx="0">
                  <c:v>0.11982353530922492</c:v>
                </c:pt>
                <c:pt idx="1">
                  <c:v>0.12003979256292285</c:v>
                </c:pt>
                <c:pt idx="2">
                  <c:v>0.12068624025763774</c:v>
                </c:pt>
                <c:pt idx="3">
                  <c:v>0.12172598512471532</c:v>
                </c:pt>
                <c:pt idx="4">
                  <c:v>0.1230629556039781</c:v>
                </c:pt>
                <c:pt idx="5">
                  <c:v>0.12468220053850494</c:v>
                </c:pt>
                <c:pt idx="6">
                  <c:v>0.12657288699432068</c:v>
                </c:pt>
                <c:pt idx="7">
                  <c:v>0.12872305471388176</c:v>
                </c:pt>
                <c:pt idx="8">
                  <c:v>0.13111993902281577</c:v>
                </c:pt>
                <c:pt idx="9">
                  <c:v>0.13375027665641556</c:v>
                </c:pt>
                <c:pt idx="10">
                  <c:v>0.13660058236980263</c:v>
                </c:pt>
                <c:pt idx="11">
                  <c:v>0.139657388646872</c:v>
                </c:pt>
                <c:pt idx="12">
                  <c:v>0.14290744489124987</c:v>
                </c:pt>
                <c:pt idx="13">
                  <c:v>0.14636898612354599</c:v>
                </c:pt>
                <c:pt idx="14">
                  <c:v>0.15008711618199594</c:v>
                </c:pt>
                <c:pt idx="15">
                  <c:v>0.15421226478899375</c:v>
                </c:pt>
                <c:pt idx="16">
                  <c:v>0.15883955319858853</c:v>
                </c:pt>
                <c:pt idx="17">
                  <c:v>0.16392646397320218</c:v>
                </c:pt>
                <c:pt idx="18">
                  <c:v>0.1694316039074222</c:v>
                </c:pt>
                <c:pt idx="19">
                  <c:v>0.17531557858895325</c:v>
                </c:pt>
                <c:pt idx="20">
                  <c:v>0.18365158330620698</c:v>
                </c:pt>
              </c:numCache>
            </c:numRef>
          </c:xVal>
          <c:yVal>
            <c:numRef>
              <c:f>Sheet1!$B$2:$B$22</c:f>
              <c:numCache>
                <c:formatCode>General</c:formatCode>
                <c:ptCount val="21"/>
                <c:pt idx="0">
                  <c:v>0.1729615563794471</c:v>
                </c:pt>
                <c:pt idx="1">
                  <c:v>0.17984509646910413</c:v>
                </c:pt>
                <c:pt idx="2">
                  <c:v>0.18672863655876115</c:v>
                </c:pt>
                <c:pt idx="3">
                  <c:v>0.19361217664841815</c:v>
                </c:pt>
                <c:pt idx="4">
                  <c:v>0.20049571673807515</c:v>
                </c:pt>
                <c:pt idx="5">
                  <c:v>0.20737925682773217</c:v>
                </c:pt>
                <c:pt idx="6">
                  <c:v>0.21426279691738923</c:v>
                </c:pt>
                <c:pt idx="7">
                  <c:v>0.2211463370070462</c:v>
                </c:pt>
                <c:pt idx="8">
                  <c:v>0.22802987709670325</c:v>
                </c:pt>
                <c:pt idx="9">
                  <c:v>0.23491341718636022</c:v>
                </c:pt>
                <c:pt idx="10">
                  <c:v>0.24179695727601724</c:v>
                </c:pt>
                <c:pt idx="11">
                  <c:v>0.2486804973656742</c:v>
                </c:pt>
                <c:pt idx="12">
                  <c:v>0.2555640374553313</c:v>
                </c:pt>
                <c:pt idx="13">
                  <c:v>0.26244757754498815</c:v>
                </c:pt>
                <c:pt idx="14">
                  <c:v>0.2693311176346453</c:v>
                </c:pt>
                <c:pt idx="15">
                  <c:v>0.27621465772430237</c:v>
                </c:pt>
                <c:pt idx="16">
                  <c:v>0.2830981978139593</c:v>
                </c:pt>
                <c:pt idx="17">
                  <c:v>0.28998173790361637</c:v>
                </c:pt>
                <c:pt idx="18">
                  <c:v>0.29686527799327334</c:v>
                </c:pt>
                <c:pt idx="19">
                  <c:v>0.3037488180829303</c:v>
                </c:pt>
                <c:pt idx="20">
                  <c:v>0.3106323581725874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Sheet1!$B$24</c:f>
              <c:strCache>
                <c:ptCount val="1"/>
                <c:pt idx="0">
                  <c:v>Conservative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9"/>
            <c:spPr>
              <a:solidFill>
                <a:srgbClr val="C9862C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Sheet1!$A$25:$A$25</c:f>
              <c:numCache>
                <c:formatCode>General</c:formatCode>
                <c:ptCount val="1"/>
                <c:pt idx="0">
                  <c:v>0.1230629556039781</c:v>
                </c:pt>
              </c:numCache>
            </c:numRef>
          </c:xVal>
          <c:yVal>
            <c:numRef>
              <c:f>Sheet1!$B$25:$B$25</c:f>
              <c:numCache>
                <c:formatCode>General</c:formatCode>
                <c:ptCount val="1"/>
                <c:pt idx="0">
                  <c:v>0.20049571673807515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Sheet1!$B$27</c:f>
              <c:strCache>
                <c:ptCount val="1"/>
                <c:pt idx="0">
                  <c:v>Moderate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9"/>
            <c:spPr>
              <a:solidFill>
                <a:srgbClr val="0F5B4C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Sheet1!$A$28:$A$28</c:f>
              <c:numCache>
                <c:formatCode>General</c:formatCode>
                <c:ptCount val="1"/>
                <c:pt idx="0">
                  <c:v>0.13660058236980263</c:v>
                </c:pt>
              </c:numCache>
            </c:numRef>
          </c:xVal>
          <c:yVal>
            <c:numRef>
              <c:f>Sheet1!$B$28:$B$28</c:f>
              <c:numCache>
                <c:formatCode>General</c:formatCode>
                <c:ptCount val="1"/>
                <c:pt idx="0">
                  <c:v>0.24179695727601724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Sheet1!$B$30</c:f>
              <c:strCache>
                <c:ptCount val="1"/>
                <c:pt idx="0">
                  <c:v>Aggressive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9"/>
            <c:spPr>
              <a:solidFill>
                <a:srgbClr val="7B528F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Sheet1!$A$31:$A$31</c:f>
              <c:numCache>
                <c:formatCode>General</c:formatCode>
                <c:ptCount val="1"/>
                <c:pt idx="0">
                  <c:v>0.15883955319858853</c:v>
                </c:pt>
              </c:numCache>
            </c:numRef>
          </c:xVal>
          <c:yVal>
            <c:numRef>
              <c:f>Sheet1!$B$31:$B$31</c:f>
              <c:numCache>
                <c:formatCode>General</c:formatCode>
                <c:ptCount val="1"/>
                <c:pt idx="0">
                  <c:v>0.2830981978139593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>
                    <a:latin typeface="Arial"/>
                  </a:defRPr>
                </a:pPr>
                <a:r>
                  <a:t>Volatilità annua stimata</a:t>
                </a:r>
              </a:p>
            </c:rich>
          </c:tx>
          <c:layout/>
          <c:overlay val="0"/>
        </c:title>
        <c:numFmt formatCode="0.0%" sourceLinked="0"/>
        <c:majorTickMark val="none"/>
        <c:minorTickMark val="none"/>
        <c:tickLblPos val="nextTo"/>
        <c:txPr>
          <a:bodyPr/>
          <a:lstStyle/>
          <a:p>
            <a:pPr>
              <a:defRPr sz="1000">
                <a:solidFill>
                  <a:srgbClr val="60706B"/>
                </a:solidFill>
                <a:latin typeface="Arial"/>
              </a:defRPr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pPr>
                  <a:defRPr sz="1100">
                    <a:latin typeface="Arial"/>
                  </a:defRPr>
                </a:pPr>
                <a:r>
                  <a:t>Rendimento annuo stimato</a:t>
                </a:r>
              </a:p>
            </c:rich>
          </c:tx>
          <c:layout/>
          <c:overlay val="0"/>
        </c:title>
        <c:numFmt formatCode="0.0%" sourceLinked="0"/>
        <c:majorTickMark val="none"/>
        <c:minorTickMark val="none"/>
        <c:tickLblPos val="nextTo"/>
        <c:txPr>
          <a:bodyPr/>
          <a:lstStyle/>
          <a:p>
            <a:pPr>
              <a:defRPr sz="1000">
                <a:solidFill>
                  <a:srgbClr val="60706B"/>
                </a:solidFill>
                <a:latin typeface="Arial"/>
              </a:defRPr>
            </a:pPr>
          </a:p>
        </c:txPr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94360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 i="0">
                <a:solidFill>
                  <a:srgbClr val="0F5B4C"/>
                </a:solidFill>
                <a:latin typeface="Arial"/>
              </a:defRPr>
            </a:pPr>
            <a:r>
              <a:t>PORTFOLIO DSS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98448"/>
            <a:ext cx="7269480" cy="1965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4300" b="0" i="0">
                <a:solidFill>
                  <a:srgbClr val="122923"/>
                </a:solidFill>
                <a:latin typeface="Georgia"/>
              </a:defRPr>
            </a:pPr>
            <a:r>
              <a:t>Teoria di portafoglio</a:t>
            </a:r>
            <a:br/>
            <a:r>
              <a:t>e supporto decisionale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85032"/>
            <a:ext cx="649224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0" i="0">
                <a:solidFill>
                  <a:srgbClr val="60706B"/>
                </a:solidFill>
                <a:latin typeface="Arial"/>
              </a:defRPr>
            </a:pPr>
            <a:r>
              <a:t>Un sistema educativo per confrontare rendimento, rischio e incertezza</a:t>
            </a:r>
            <a:br/>
            <a:r>
              <a:t>prima di scegliere un’allocazione.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58200" y="960120"/>
            <a:ext cx="0" cy="4690872"/>
          </a:xfrm>
          <a:prstGeom prst="line">
            <a:avLst/>
          </a:prstGeom>
          <a:ln w="25400">
            <a:solidFill>
              <a:srgbClr val="0F5B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823960" y="1463040"/>
            <a:ext cx="18288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 i="0">
                <a:solidFill>
                  <a:srgbClr val="0F5B4C"/>
                </a:solidFill>
                <a:latin typeface="Arial"/>
              </a:defRPr>
            </a:pPr>
            <a:r>
              <a:t>15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3960" y="2103120"/>
            <a:ext cx="2194560" cy="1828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200" b="0" i="0">
                <a:solidFill>
                  <a:srgbClr val="122923"/>
                </a:solidFill>
                <a:latin typeface="Georgia"/>
              </a:defRPr>
            </a:pPr>
            <a:r>
              <a:t>Finanza</a:t>
            </a:r>
            <a:br/>
            <a:r>
              <a:t>Modello</a:t>
            </a:r>
            <a:br/>
            <a:r>
              <a:t>Decisione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17920"/>
            <a:ext cx="4114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 i="0">
                <a:solidFill>
                  <a:srgbClr val="60706B"/>
                </a:solidFill>
                <a:latin typeface="Arial"/>
              </a:defRPr>
            </a:pPr>
            <a:r>
              <a:t>Phase B · presentazione finale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59436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 i="0">
                <a:solidFill>
                  <a:srgbClr val="0F5B4C"/>
                </a:solidFill>
                <a:latin typeface="Arial"/>
              </a:defRPr>
            </a:pPr>
            <a:r>
              <a:t>IL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4420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800" b="0" i="0">
                <a:solidFill>
                  <a:srgbClr val="122923"/>
                </a:solidFill>
                <a:latin typeface="Georgia"/>
              </a:defRPr>
            </a:pPr>
            <a:r>
              <a:t>La decisione reale dell’investitore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353312"/>
            <a:ext cx="10863072" cy="0"/>
          </a:xfrm>
          <a:prstGeom prst="line">
            <a:avLst/>
          </a:prstGeom>
          <a:ln w="127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7395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 i="0">
                <a:solidFill>
                  <a:srgbClr val="60706B"/>
                </a:solidFill>
                <a:latin typeface="Arial"/>
              </a:defRPr>
            </a:pPr>
            <a:r>
              <a:t>Fonte: docs/PRODUCT.md · docs/DSS_MODEL.md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19088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800" b="0" i="0">
                <a:solidFill>
                  <a:srgbClr val="60706B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572768"/>
            <a:ext cx="7955279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400" b="0" i="0">
                <a:solidFill>
                  <a:srgbClr val="122923"/>
                </a:solidFill>
                <a:latin typeface="Georgia"/>
              </a:defRPr>
            </a:pPr>
            <a:r>
              <a:t>Allocare capitale significa scegliere oggi con informazioni imperfette sul futuro.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423160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 i="0">
                <a:solidFill>
                  <a:srgbClr val="C9862C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404872"/>
            <a:ext cx="260604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 i="0">
                <a:solidFill>
                  <a:srgbClr val="0F5B4C"/>
                </a:solidFill>
                <a:latin typeface="Arial"/>
              </a:defRPr>
            </a:pPr>
            <a:r>
              <a:t>CAPITALE LIMITATO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22191" y="2368296"/>
            <a:ext cx="70408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600" b="0" i="0">
                <a:solidFill>
                  <a:srgbClr val="122923"/>
                </a:solidFill>
                <a:latin typeface="Arial"/>
              </a:defRPr>
            </a:pPr>
            <a:r>
              <a:t>Ogni peso assegnato a un’attività riduce lo spazio disponibile per le altre.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53312" y="2953512"/>
            <a:ext cx="9482328" cy="0"/>
          </a:xfrm>
          <a:prstGeom prst="line">
            <a:avLst/>
          </a:prstGeom>
          <a:ln w="127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58952" y="3227832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 i="0">
                <a:solidFill>
                  <a:srgbClr val="C9862C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3209544"/>
            <a:ext cx="260604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 i="0">
                <a:solidFill>
                  <a:srgbClr val="0F5B4C"/>
                </a:solidFill>
                <a:latin typeface="Arial"/>
              </a:defRPr>
            </a:pPr>
            <a:r>
              <a:t>RENDIMENTO INCERTO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2191" y="3172968"/>
            <a:ext cx="70408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600" b="0" i="0">
                <a:solidFill>
                  <a:srgbClr val="122923"/>
                </a:solidFill>
                <a:latin typeface="Arial"/>
              </a:defRPr>
            </a:pPr>
            <a:r>
              <a:t>I dati storici permettono stime, non promesse sul risultato futuro.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353312" y="3758183"/>
            <a:ext cx="9482328" cy="0"/>
          </a:xfrm>
          <a:prstGeom prst="line">
            <a:avLst/>
          </a:prstGeom>
          <a:ln w="127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58952" y="4032504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 i="0">
                <a:solidFill>
                  <a:srgbClr val="C9862C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4014216"/>
            <a:ext cx="260604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 i="0">
                <a:solidFill>
                  <a:srgbClr val="0F5B4C"/>
                </a:solidFill>
                <a:latin typeface="Arial"/>
              </a:defRPr>
            </a:pPr>
            <a:r>
              <a:t>RISCHIO CONGIUNTO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2191" y="3977640"/>
            <a:ext cx="70408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600" b="0" i="0">
                <a:solidFill>
                  <a:srgbClr val="122923"/>
                </a:solidFill>
                <a:latin typeface="Arial"/>
              </a:defRPr>
            </a:pPr>
            <a:r>
              <a:t>Il rischio dipende anche da come le attività si muovono insieme.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353312" y="4562856"/>
            <a:ext cx="9482328" cy="0"/>
          </a:xfrm>
          <a:prstGeom prst="line">
            <a:avLst/>
          </a:prstGeom>
          <a:ln w="127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58952" y="4837176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 i="0">
                <a:solidFill>
                  <a:srgbClr val="C9862C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53312" y="4818888"/>
            <a:ext cx="260604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 i="0">
                <a:solidFill>
                  <a:srgbClr val="0F5B4C"/>
                </a:solidFill>
                <a:latin typeface="Arial"/>
              </a:defRPr>
            </a:pPr>
            <a:r>
              <a:t>PREFERENZE PERSONALI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22191" y="4782312"/>
            <a:ext cx="704088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600" b="0" i="0">
                <a:solidFill>
                  <a:srgbClr val="122923"/>
                </a:solidFill>
                <a:latin typeface="Arial"/>
              </a:defRPr>
            </a:pPr>
            <a:r>
              <a:t>Investitori diversi possono scegliere punti diversi tra rendimento e rischio.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5577840"/>
            <a:ext cx="9418320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400" b="1" i="0">
                <a:solidFill>
                  <a:srgbClr val="0F5B4C"/>
                </a:solidFill>
                <a:latin typeface="Arial"/>
              </a:defRPr>
            </a:pPr>
            <a:r>
              <a:t>La domanda corretta non è «qual è il portafoglio migliore?», ma «quale compromesso è coerente con questa decisione?»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59436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 i="0">
                <a:solidFill>
                  <a:srgbClr val="0F5B4C"/>
                </a:solidFill>
                <a:latin typeface="Arial"/>
              </a:defRPr>
            </a:pPr>
            <a:r>
              <a:t>DECISION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4420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800" b="0" i="0">
                <a:solidFill>
                  <a:srgbClr val="122923"/>
                </a:solidFill>
                <a:latin typeface="Georgia"/>
              </a:defRPr>
            </a:pPr>
            <a:r>
              <a:t>Il ruolo di un Decision Support System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353312"/>
            <a:ext cx="10863072" cy="0"/>
          </a:xfrm>
          <a:prstGeom prst="line">
            <a:avLst/>
          </a:prstGeom>
          <a:ln w="127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7395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 i="0">
                <a:solidFill>
                  <a:srgbClr val="60706B"/>
                </a:solidFill>
                <a:latin typeface="Arial"/>
              </a:defRPr>
            </a:pPr>
            <a:r>
              <a:t>Fonte: docs/PRODUCT.md · docs/DSS_MODEL.md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19088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800" b="0" i="0">
                <a:solidFill>
                  <a:srgbClr val="60706B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7" name="Oval 6"/>
          <p:cNvSpPr/>
          <p:nvPr/>
        </p:nvSpPr>
        <p:spPr>
          <a:xfrm>
            <a:off x="1298448" y="1847088"/>
            <a:ext cx="475488" cy="475488"/>
          </a:xfrm>
          <a:prstGeom prst="ellipse">
            <a:avLst/>
          </a:prstGeom>
          <a:solidFill>
            <a:srgbClr val="0F5B4C"/>
          </a:solidFill>
          <a:ln>
            <a:solidFill>
              <a:srgbClr val="0F5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8448" y="1920240"/>
            <a:ext cx="47548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542032"/>
            <a:ext cx="1755648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400" b="1" i="0">
                <a:solidFill>
                  <a:srgbClr val="122923"/>
                </a:solidFill>
                <a:latin typeface="Arial"/>
              </a:defRPr>
            </a:pPr>
            <a:r>
              <a:t>DATI</a:t>
            </a:r>
            <a:br/>
            <a:r>
              <a:t>OSSERVATI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337560"/>
            <a:ext cx="1755648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00" b="0" i="0">
                <a:solidFill>
                  <a:srgbClr val="60706B"/>
                </a:solidFill>
                <a:latin typeface="Arial"/>
              </a:defRPr>
            </a:pPr>
            <a:r>
              <a:t>prezzi e periodo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83080" y="2084831"/>
            <a:ext cx="1755648" cy="0"/>
          </a:xfrm>
          <a:prstGeom prst="line">
            <a:avLst/>
          </a:prstGeom>
          <a:ln w="19050">
            <a:solidFill>
              <a:srgbClr val="1F7A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3547872" y="1847088"/>
            <a:ext cx="475488" cy="475488"/>
          </a:xfrm>
          <a:prstGeom prst="ellipse">
            <a:avLst/>
          </a:prstGeom>
          <a:solidFill>
            <a:srgbClr val="0F5B4C"/>
          </a:solidFill>
          <a:ln>
            <a:solidFill>
              <a:srgbClr val="0F5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47872" y="1920240"/>
            <a:ext cx="47548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07792" y="2542032"/>
            <a:ext cx="1755648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400" b="1" i="0">
                <a:solidFill>
                  <a:srgbClr val="122923"/>
                </a:solidFill>
                <a:latin typeface="Arial"/>
              </a:defRPr>
            </a:pPr>
            <a:r>
              <a:t>MODELLO</a:t>
            </a:r>
            <a:br/>
            <a:r>
              <a:t>ANALITICO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07792" y="3337560"/>
            <a:ext cx="1755648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00" b="0" i="0">
                <a:solidFill>
                  <a:srgbClr val="60706B"/>
                </a:solidFill>
                <a:latin typeface="Arial"/>
              </a:defRPr>
            </a:pPr>
            <a:r>
              <a:t>stime e vincoli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032504" y="2084831"/>
            <a:ext cx="1755648" cy="0"/>
          </a:xfrm>
          <a:prstGeom prst="line">
            <a:avLst/>
          </a:prstGeom>
          <a:ln w="19050">
            <a:solidFill>
              <a:srgbClr val="1F7A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797296" y="1847088"/>
            <a:ext cx="475488" cy="475488"/>
          </a:xfrm>
          <a:prstGeom prst="ellipse">
            <a:avLst/>
          </a:prstGeom>
          <a:solidFill>
            <a:srgbClr val="0F5B4C"/>
          </a:solidFill>
          <a:ln>
            <a:solidFill>
              <a:srgbClr val="0F5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97296" y="1920240"/>
            <a:ext cx="47548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542032"/>
            <a:ext cx="1755648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400" b="1" i="0">
                <a:solidFill>
                  <a:srgbClr val="122923"/>
                </a:solidFill>
                <a:latin typeface="Arial"/>
              </a:defRPr>
            </a:pPr>
            <a:r>
              <a:t>ALTERNATIVE</a:t>
            </a:r>
            <a:br/>
            <a:r>
              <a:t>CONFRONTABILI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7216" y="3337560"/>
            <a:ext cx="1755648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00" b="0" i="0">
                <a:solidFill>
                  <a:srgbClr val="60706B"/>
                </a:solidFill>
                <a:latin typeface="Arial"/>
              </a:defRPr>
            </a:pPr>
            <a:r>
              <a:t>frontiera e benchmark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281927" y="2084831"/>
            <a:ext cx="1755648" cy="0"/>
          </a:xfrm>
          <a:prstGeom prst="line">
            <a:avLst/>
          </a:prstGeom>
          <a:ln w="19050">
            <a:solidFill>
              <a:srgbClr val="1F7A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8046719" y="1847088"/>
            <a:ext cx="475488" cy="475488"/>
          </a:xfrm>
          <a:prstGeom prst="ellipse">
            <a:avLst/>
          </a:prstGeom>
          <a:solidFill>
            <a:srgbClr val="0F5B4C"/>
          </a:solidFill>
          <a:ln>
            <a:solidFill>
              <a:srgbClr val="0F5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19" y="1920240"/>
            <a:ext cx="47548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2542032"/>
            <a:ext cx="1755648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400" b="1" i="0">
                <a:solidFill>
                  <a:srgbClr val="122923"/>
                </a:solidFill>
                <a:latin typeface="Arial"/>
              </a:defRPr>
            </a:pPr>
            <a:r>
              <a:t>EVIDENZA</a:t>
            </a:r>
            <a:br/>
            <a:r>
              <a:t>COMPRENSIBILE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3337560"/>
            <a:ext cx="1755648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00" b="0" i="0">
                <a:solidFill>
                  <a:srgbClr val="60706B"/>
                </a:solidFill>
                <a:latin typeface="Arial"/>
              </a:defRPr>
            </a:pPr>
            <a:r>
              <a:t>ipotesi e incertezza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531352" y="2084831"/>
            <a:ext cx="1755648" cy="0"/>
          </a:xfrm>
          <a:prstGeom prst="line">
            <a:avLst/>
          </a:prstGeom>
          <a:ln w="19050">
            <a:solidFill>
              <a:srgbClr val="1F7A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10296144" y="1847088"/>
            <a:ext cx="475488" cy="475488"/>
          </a:xfrm>
          <a:prstGeom prst="ellipse">
            <a:avLst/>
          </a:prstGeom>
          <a:solidFill>
            <a:srgbClr val="C9862C"/>
          </a:solidFill>
          <a:ln>
            <a:solidFill>
              <a:srgbClr val="C98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96144" y="1920240"/>
            <a:ext cx="47548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6064" y="2542032"/>
            <a:ext cx="1755648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400" b="1" i="0">
                <a:solidFill>
                  <a:srgbClr val="122923"/>
                </a:solidFill>
                <a:latin typeface="Arial"/>
              </a:defRPr>
            </a:pPr>
            <a:r>
              <a:t>SCELTA</a:t>
            </a:r>
            <a:br/>
            <a:r>
              <a:t>UMANA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6064" y="3337560"/>
            <a:ext cx="1755648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00" b="0" i="0">
                <a:solidFill>
                  <a:srgbClr val="60706B"/>
                </a:solidFill>
                <a:latin typeface="Arial"/>
              </a:defRPr>
            </a:pPr>
            <a:r>
              <a:t>preferenze dell’utente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" y="4315968"/>
            <a:ext cx="9921240" cy="1115568"/>
          </a:xfrm>
          <a:prstGeom prst="roundRect">
            <a:avLst/>
          </a:prstGeom>
          <a:solidFill>
            <a:srgbClr val="DDEBE5"/>
          </a:solidFill>
          <a:ln w="12700">
            <a:solidFill>
              <a:srgbClr val="DD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81328" y="4480560"/>
            <a:ext cx="9235440" cy="8046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1800" b="0" i="0">
                <a:solidFill>
                  <a:srgbClr val="0F5B4C"/>
                </a:solidFill>
                <a:latin typeface="Georgia"/>
              </a:defRPr>
            </a:pPr>
            <a:r>
              <a:t>Portfolio DSS segue questo ciclo: trasforma dati e preferenze in alternative spiegate, senza trasferire al modello la responsabilità della scelta.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59436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 i="0">
                <a:solidFill>
                  <a:srgbClr val="0F5B4C"/>
                </a:solidFill>
                <a:latin typeface="Arial"/>
              </a:defRPr>
            </a:pPr>
            <a:r>
              <a:t>FONDAMENTI FINANZIARI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4420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800" b="0" i="0">
                <a:solidFill>
                  <a:srgbClr val="122923"/>
                </a:solidFill>
                <a:latin typeface="Georgia"/>
              </a:defRPr>
            </a:pPr>
            <a:r>
              <a:t>Capitale, attività e pesi di portafoglio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353312"/>
            <a:ext cx="10863072" cy="0"/>
          </a:xfrm>
          <a:prstGeom prst="line">
            <a:avLst/>
          </a:prstGeom>
          <a:ln w="127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7395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 i="0">
                <a:solidFill>
                  <a:srgbClr val="60706B"/>
                </a:solidFill>
                <a:latin typeface="Arial"/>
              </a:defRPr>
            </a:pPr>
            <a:r>
              <a:t>Fonte: docs/professor-note.md · docs/DSS_MODEL.md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19088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800" b="0" i="0">
                <a:solidFill>
                  <a:srgbClr val="60706B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4846320" cy="868680"/>
          </a:xfrm>
          <a:prstGeom prst="roundRect">
            <a:avLst/>
          </a:prstGeom>
          <a:solidFill>
            <a:srgbClr val="DDEBE5"/>
          </a:solidFill>
          <a:ln w="12700">
            <a:solidFill>
              <a:srgbClr val="DD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737360"/>
            <a:ext cx="4626864" cy="7772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2900" b="0" i="0">
                <a:solidFill>
                  <a:srgbClr val="122923"/>
                </a:solidFill>
                <a:latin typeface="Cambria Math"/>
              </a:defRPr>
            </a:pPr>
            <a:r>
              <a:t>x = (x₁, x₂, …, xₙ)ᵀ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971800"/>
            <a:ext cx="9144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700" b="1" i="0">
                <a:solidFill>
                  <a:srgbClr val="0F5B4C"/>
                </a:solidFill>
                <a:latin typeface="Cambria Math"/>
              </a:defRPr>
            </a:pPr>
            <a:r>
              <a:t>xᵢ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999232"/>
            <a:ext cx="3977639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0" i="0">
                <a:solidFill>
                  <a:srgbClr val="122923"/>
                </a:solidFill>
                <a:latin typeface="Arial"/>
              </a:defRPr>
            </a:pPr>
            <a:r>
              <a:t>quota del capitale assegnata all’attività 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767328"/>
            <a:ext cx="9144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700" b="1" i="0">
                <a:solidFill>
                  <a:srgbClr val="0F5B4C"/>
                </a:solidFill>
                <a:latin typeface="Cambria Math"/>
              </a:defRPr>
            </a:pPr>
            <a:r>
              <a:t>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794760"/>
            <a:ext cx="3977639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0" i="0">
                <a:solidFill>
                  <a:srgbClr val="122923"/>
                </a:solidFill>
                <a:latin typeface="Arial"/>
              </a:defRPr>
            </a:pPr>
            <a:r>
              <a:t>numero di attività investibili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562856"/>
            <a:ext cx="9144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200" b="1" i="0">
                <a:solidFill>
                  <a:srgbClr val="0F5B4C"/>
                </a:solidFill>
                <a:latin typeface="Cambria Math"/>
              </a:defRPr>
            </a:pPr>
            <a:r>
              <a:t>C · xᵢ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4590288"/>
            <a:ext cx="3977639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0" i="0">
                <a:solidFill>
                  <a:srgbClr val="122923"/>
                </a:solidFill>
                <a:latin typeface="Arial"/>
              </a:defRPr>
            </a:pPr>
            <a:r>
              <a:t>importo illustrativo allocato all’attività 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53328" y="1664208"/>
            <a:ext cx="0" cy="3913632"/>
          </a:xfrm>
          <a:prstGeom prst="line">
            <a:avLst/>
          </a:prstGeom>
          <a:ln w="254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647688" y="1892807"/>
            <a:ext cx="4032504" cy="8686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3000" b="0" i="0">
                <a:solidFill>
                  <a:srgbClr val="122923"/>
                </a:solidFill>
                <a:latin typeface="Cambria Math"/>
              </a:defRPr>
            </a:pPr>
            <a:r>
              <a:t>Σᵢ xᵢ =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2907792"/>
            <a:ext cx="4041648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0" i="0">
                <a:solidFill>
                  <a:srgbClr val="122923"/>
                </a:solidFill>
                <a:latin typeface="Arial"/>
              </a:defRPr>
            </a:pPr>
            <a:r>
              <a:t>Il portafoglio è interamente investito.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7688" y="3749039"/>
            <a:ext cx="4032504" cy="8686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3000" b="0" i="0">
                <a:solidFill>
                  <a:srgbClr val="122923"/>
                </a:solidFill>
                <a:latin typeface="Cambria Math"/>
              </a:defRPr>
            </a:pPr>
            <a:r>
              <a:t>xᵢ ≥ 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56832" y="4754880"/>
            <a:ext cx="4041648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0" i="0">
                <a:solidFill>
                  <a:srgbClr val="122923"/>
                </a:solidFill>
                <a:latin typeface="Arial"/>
              </a:defRPr>
            </a:pPr>
            <a:r>
              <a:t>Long-only: nessuna posizione corta.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59436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 i="0">
                <a:solidFill>
                  <a:srgbClr val="0F5B4C"/>
                </a:solidFill>
                <a:latin typeface="Arial"/>
              </a:defRPr>
            </a:pPr>
            <a:r>
              <a:t>FONDAMENTI FINANZIARI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4420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800" b="0" i="0">
                <a:solidFill>
                  <a:srgbClr val="122923"/>
                </a:solidFill>
                <a:latin typeface="Georgia"/>
              </a:defRPr>
            </a:pPr>
            <a:r>
              <a:t>Dai prezzi ai rendimenti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353312"/>
            <a:ext cx="10863072" cy="0"/>
          </a:xfrm>
          <a:prstGeom prst="line">
            <a:avLst/>
          </a:prstGeom>
          <a:ln w="127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7395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 i="0">
                <a:solidFill>
                  <a:srgbClr val="60706B"/>
                </a:solidFill>
                <a:latin typeface="Arial"/>
              </a:defRPr>
            </a:pPr>
            <a:r>
              <a:t>Fonte: docs/METHODOLOGY_AND_RESULTS.md · docs/DATA.md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19088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800" b="0" i="0">
                <a:solidFill>
                  <a:srgbClr val="60706B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664208"/>
            <a:ext cx="4983480" cy="1024128"/>
          </a:xfrm>
          <a:prstGeom prst="roundRect">
            <a:avLst/>
          </a:prstGeom>
          <a:solidFill>
            <a:srgbClr val="DDEBE5"/>
          </a:solidFill>
          <a:ln w="12700">
            <a:solidFill>
              <a:srgbClr val="DD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09928"/>
            <a:ext cx="4764024" cy="9326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2900" b="0" i="0">
                <a:solidFill>
                  <a:srgbClr val="122923"/>
                </a:solidFill>
                <a:latin typeface="Cambria Math"/>
              </a:defRPr>
            </a:pPr>
            <a:r>
              <a:t>rᵢ,ₜ = Pᵢ,ₜ / Pᵢ,ₜ₋₁ − 1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81528"/>
            <a:ext cx="18288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 i="0">
                <a:solidFill>
                  <a:srgbClr val="0F5B4C"/>
                </a:solidFill>
                <a:latin typeface="Arial"/>
              </a:defRPr>
            </a:pPr>
            <a:r>
              <a:t>Prezzo usato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01568"/>
            <a:ext cx="43891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200" b="0" i="0">
                <a:solidFill>
                  <a:srgbClr val="122923"/>
                </a:solidFill>
                <a:latin typeface="Georgia"/>
              </a:defRPr>
            </a:pPr>
            <a:r>
              <a:t>Adjusted close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31920"/>
            <a:ext cx="4663440" cy="6766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0" i="0">
                <a:solidFill>
                  <a:srgbClr val="60706B"/>
                </a:solidFill>
                <a:latin typeface="Arial"/>
              </a:defRPr>
            </a:pPr>
            <a:r>
              <a:t>Include gli aggiustamenti disponibili per dividendi e operazioni sul capitale.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71032" y="1664208"/>
            <a:ext cx="0" cy="3931920"/>
          </a:xfrm>
          <a:prstGeom prst="line">
            <a:avLst/>
          </a:prstGeom>
          <a:ln w="254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19088" y="1691640"/>
            <a:ext cx="1874519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 i="0">
                <a:solidFill>
                  <a:srgbClr val="C9862C"/>
                </a:solidFill>
                <a:latin typeface="Arial"/>
              </a:defRPr>
            </a:pPr>
            <a:r>
              <a:t>FREQUENZA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1993392"/>
            <a:ext cx="4617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0" i="0">
                <a:solidFill>
                  <a:srgbClr val="122923"/>
                </a:solidFill>
                <a:latin typeface="Arial"/>
              </a:defRPr>
            </a:pPr>
            <a:r>
              <a:t>Rendimenti semplici giornalieri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633472"/>
            <a:ext cx="1874519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 i="0">
                <a:solidFill>
                  <a:srgbClr val="C9862C"/>
                </a:solidFill>
                <a:latin typeface="Arial"/>
              </a:defRPr>
            </a:pPr>
            <a:r>
              <a:t>ALLINEAMENTO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935224"/>
            <a:ext cx="4617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0" i="0">
                <a:solidFill>
                  <a:srgbClr val="122923"/>
                </a:solidFill>
                <a:latin typeface="Arial"/>
              </a:defRPr>
            </a:pPr>
            <a:r>
              <a:t>Stesse date per tutte le attività e il 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3575304"/>
            <a:ext cx="1874519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 i="0">
                <a:solidFill>
                  <a:srgbClr val="C9862C"/>
                </a:solidFill>
                <a:latin typeface="Arial"/>
              </a:defRPr>
            </a:pPr>
            <a:r>
              <a:t>DATI MANCANTI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3877056"/>
            <a:ext cx="4617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0" i="0">
                <a:solidFill>
                  <a:srgbClr val="122923"/>
                </a:solidFill>
                <a:latin typeface="Arial"/>
              </a:defRPr>
            </a:pPr>
            <a:r>
              <a:t>Nessuna imputazione silenziosa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4517136"/>
            <a:ext cx="1874519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 i="0">
                <a:solidFill>
                  <a:srgbClr val="C9862C"/>
                </a:solidFill>
                <a:latin typeface="Arial"/>
              </a:defRPr>
            </a:pPr>
            <a:r>
              <a:t>ANNUALIZZAZIONE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4818888"/>
            <a:ext cx="4617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0" i="0">
                <a:solidFill>
                  <a:srgbClr val="122923"/>
                </a:solidFill>
                <a:latin typeface="Arial"/>
              </a:defRPr>
            </a:pPr>
            <a:r>
              <a:t>252 periodi di negoziazione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30368"/>
            <a:ext cx="4736592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600" b="1" i="0">
                <a:solidFill>
                  <a:srgbClr val="0F5B4C"/>
                </a:solidFill>
                <a:latin typeface="Arial"/>
              </a:defRPr>
            </a:pPr>
            <a:r>
              <a:t>Confrontare alternative richiede prima un campione comune e convenzioni comuni.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59436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 i="0">
                <a:solidFill>
                  <a:srgbClr val="0F5B4C"/>
                </a:solidFill>
                <a:latin typeface="Arial"/>
              </a:defRPr>
            </a:pPr>
            <a:r>
              <a:t>FONDAMENTI FINANZIARI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4420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800" b="0" i="0">
                <a:solidFill>
                  <a:srgbClr val="122923"/>
                </a:solidFill>
                <a:latin typeface="Georgia"/>
              </a:defRPr>
            </a:pPr>
            <a:r>
              <a:t>Rendimento atteso e rischio stimato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353312"/>
            <a:ext cx="10863072" cy="0"/>
          </a:xfrm>
          <a:prstGeom prst="line">
            <a:avLst/>
          </a:prstGeom>
          <a:ln w="127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7395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 i="0">
                <a:solidFill>
                  <a:srgbClr val="60706B"/>
                </a:solidFill>
                <a:latin typeface="Arial"/>
              </a:defRPr>
            </a:pPr>
            <a:r>
              <a:t>Fonte: docs/METHODOLOGY_AND_RESULTS.md · ADR 0008 · ADR 0012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19088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800" b="0" i="0">
                <a:solidFill>
                  <a:srgbClr val="60706B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673352"/>
            <a:ext cx="5074920" cy="896112"/>
          </a:xfrm>
          <a:prstGeom prst="roundRect">
            <a:avLst/>
          </a:prstGeom>
          <a:solidFill>
            <a:srgbClr val="DDEBE5"/>
          </a:solidFill>
          <a:ln w="12700">
            <a:solidFill>
              <a:srgbClr val="DD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719072"/>
            <a:ext cx="4855464" cy="8046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2500" b="0" i="0">
                <a:solidFill>
                  <a:srgbClr val="122923"/>
                </a:solidFill>
                <a:latin typeface="Cambria Math"/>
              </a:defRPr>
            </a:pPr>
            <a:r>
              <a:t>μ̂ᵢ = 252 · (1/T) Σₜ rᵢ,ₜ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7648" y="1673352"/>
            <a:ext cx="5074920" cy="896112"/>
          </a:xfrm>
          <a:prstGeom prst="roundRect">
            <a:avLst/>
          </a:prstGeom>
          <a:solidFill>
            <a:srgbClr val="DDEBE5"/>
          </a:solidFill>
          <a:ln w="12700">
            <a:solidFill>
              <a:srgbClr val="DD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719072"/>
            <a:ext cx="4855464" cy="8046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2500" b="0" i="0">
                <a:solidFill>
                  <a:srgbClr val="122923"/>
                </a:solidFill>
                <a:latin typeface="Cambria Math"/>
              </a:defRPr>
            </a:pPr>
            <a:r>
              <a:t>Σ̂ᵢⱼ = 252 · cov(rᵢ, rⱼ)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889504"/>
            <a:ext cx="27432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1" i="0">
                <a:solidFill>
                  <a:srgbClr val="0F5B4C"/>
                </a:solidFill>
                <a:latin typeface="Arial"/>
              </a:defRPr>
            </a:pPr>
            <a:r>
              <a:t>Rendimento atteso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310128"/>
            <a:ext cx="4892040" cy="7680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800" b="0" i="0">
                <a:solidFill>
                  <a:srgbClr val="122923"/>
                </a:solidFill>
                <a:latin typeface="Arial"/>
              </a:defRPr>
            </a:pPr>
            <a:r>
              <a:t>La media aritmetica annualizzata stima il parametro usato dal modello.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2889504"/>
            <a:ext cx="27432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1" i="0">
                <a:solidFill>
                  <a:srgbClr val="0F5B4C"/>
                </a:solidFill>
                <a:latin typeface="Arial"/>
              </a:defRPr>
            </a:pPr>
            <a:r>
              <a:t>Rischio congiunto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3310128"/>
            <a:ext cx="4736592" cy="7680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800" b="0" i="0">
                <a:solidFill>
                  <a:srgbClr val="122923"/>
                </a:solidFill>
                <a:latin typeface="Arial"/>
              </a:defRPr>
            </a:pPr>
            <a:r>
              <a:t>La matrice di covarianza descrive variabilità individuale e co-movimenti.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8" y="4681728"/>
            <a:ext cx="10652760" cy="8595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C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892040"/>
            <a:ext cx="1005840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C9862C"/>
                </a:solidFill>
                <a:latin typeface="Arial"/>
              </a:rPr>
              <a:t>STIMA </a:t>
            </a:r>
            <a:r>
              <a:rPr sz="1600" b="0">
                <a:solidFill>
                  <a:srgbClr val="122923"/>
                </a:solidFill>
                <a:latin typeface="Arial"/>
              </a:rPr>
              <a:t>μ e Σ dipendono dal campione.  </a:t>
            </a:r>
            <a:r>
              <a:rPr sz="1100" b="1">
                <a:solidFill>
                  <a:srgbClr val="17324D"/>
                </a:solidFill>
                <a:latin typeface="Arial"/>
              </a:rPr>
              <a:t>OSSERVAZIONE </a:t>
            </a:r>
            <a:r>
              <a:rPr sz="1600" b="0">
                <a:solidFill>
                  <a:srgbClr val="122923"/>
                </a:solidFill>
                <a:latin typeface="Arial"/>
              </a:rPr>
              <a:t>il CAGR descrive un percorso storico.  </a:t>
            </a:r>
            <a:r>
              <a:rPr sz="1100" b="1">
                <a:solidFill>
                  <a:srgbClr val="0F5B4C"/>
                </a:solidFill>
                <a:latin typeface="Arial"/>
              </a:rPr>
              <a:t>FUTURO </a:t>
            </a:r>
            <a:r>
              <a:rPr sz="1600" b="0">
                <a:solidFill>
                  <a:srgbClr val="122923"/>
                </a:solidFill>
                <a:latin typeface="Arial"/>
              </a:rPr>
              <a:t>nessuno dei due garantisce un risultato.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59436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 i="0">
                <a:solidFill>
                  <a:srgbClr val="0F5B4C"/>
                </a:solidFill>
                <a:latin typeface="Arial"/>
              </a:defRPr>
            </a:pPr>
            <a:r>
              <a:t>FONDAMENTI FINANZIARI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4420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800" b="0" i="0">
                <a:solidFill>
                  <a:srgbClr val="122923"/>
                </a:solidFill>
                <a:latin typeface="Georgia"/>
              </a:defRPr>
            </a:pPr>
            <a:r>
              <a:t>Diversificazione e rischio di portafoglio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353312"/>
            <a:ext cx="10863072" cy="0"/>
          </a:xfrm>
          <a:prstGeom prst="line">
            <a:avLst/>
          </a:prstGeom>
          <a:ln w="127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7395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 i="0">
                <a:solidFill>
                  <a:srgbClr val="60706B"/>
                </a:solidFill>
                <a:latin typeface="Arial"/>
              </a:defRPr>
            </a:pPr>
            <a:r>
              <a:t>Fonte: docs/METHODOLOGY_AND_RESULTS.md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19088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800" b="0" i="0">
                <a:solidFill>
                  <a:srgbClr val="60706B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682496"/>
            <a:ext cx="3337560" cy="960120"/>
          </a:xfrm>
          <a:prstGeom prst="roundRect">
            <a:avLst/>
          </a:prstGeom>
          <a:solidFill>
            <a:srgbClr val="DDEBE5"/>
          </a:solidFill>
          <a:ln w="12700">
            <a:solidFill>
              <a:srgbClr val="DD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728216"/>
            <a:ext cx="3118104" cy="8686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2800" b="0" i="0">
                <a:solidFill>
                  <a:srgbClr val="122923"/>
                </a:solidFill>
                <a:latin typeface="Cambria Math"/>
              </a:defRPr>
            </a:pPr>
            <a:r>
              <a:t>μₚ = xᵀμ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682496"/>
            <a:ext cx="3337560" cy="960120"/>
          </a:xfrm>
          <a:prstGeom prst="roundRect">
            <a:avLst/>
          </a:prstGeom>
          <a:solidFill>
            <a:srgbClr val="DDEBE5"/>
          </a:solidFill>
          <a:ln w="12700">
            <a:solidFill>
              <a:srgbClr val="DD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1728216"/>
            <a:ext cx="3118104" cy="8686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2800" b="0" i="0">
                <a:solidFill>
                  <a:srgbClr val="122923"/>
                </a:solidFill>
                <a:latin typeface="Cambria Math"/>
              </a:defRPr>
            </a:pPr>
            <a:r>
              <a:t>σₚ² = xᵀΣx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1682496"/>
            <a:ext cx="3337560" cy="960120"/>
          </a:xfrm>
          <a:prstGeom prst="roundRect">
            <a:avLst/>
          </a:prstGeom>
          <a:solidFill>
            <a:srgbClr val="DDEBE5"/>
          </a:solidFill>
          <a:ln w="12700">
            <a:solidFill>
              <a:srgbClr val="DD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1" y="1728216"/>
            <a:ext cx="3118104" cy="8686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2700" b="0" i="0">
                <a:solidFill>
                  <a:srgbClr val="122923"/>
                </a:solidFill>
                <a:latin typeface="Cambria Math"/>
              </a:defRPr>
            </a:pPr>
            <a:r>
              <a:t>σₚ = √(xᵀΣx)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70632"/>
            <a:ext cx="3337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400" b="0" i="0">
                <a:solidFill>
                  <a:srgbClr val="60706B"/>
                </a:solidFill>
                <a:latin typeface="Arial"/>
              </a:defRPr>
            </a:pPr>
            <a:r>
              <a:t>media ponderata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2770632"/>
            <a:ext cx="3337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400" b="0" i="0">
                <a:solidFill>
                  <a:srgbClr val="60706B"/>
                </a:solidFill>
                <a:latin typeface="Arial"/>
              </a:defRPr>
            </a:pPr>
            <a:r>
              <a:t>varianza del portafoglio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01583" y="2770632"/>
            <a:ext cx="3337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400" b="0" i="0">
                <a:solidFill>
                  <a:srgbClr val="60706B"/>
                </a:solidFill>
                <a:latin typeface="Arial"/>
              </a:defRPr>
            </a:pPr>
            <a:r>
              <a:t>volatilità annualizzata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07008" y="3703320"/>
            <a:ext cx="9765792" cy="0"/>
          </a:xfrm>
          <a:prstGeom prst="line">
            <a:avLst/>
          </a:prstGeom>
          <a:ln w="254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78992" y="4023360"/>
            <a:ext cx="10012680" cy="11704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900" b="0" i="0">
                <a:solidFill>
                  <a:srgbClr val="122923"/>
                </a:solidFill>
                <a:latin typeface="Georgia"/>
              </a:defRPr>
            </a:pPr>
            <a:r>
              <a:t>Il rendimento del portafoglio combina i rendimenti attesi. Il rischio combina anche tutte le covarianze: due attività rischiose possono ridurre il rischio complessivo quando non si muovono nello stesso modo.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5422392"/>
            <a:ext cx="827532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700" b="1" i="0">
                <a:solidFill>
                  <a:srgbClr val="0F5B4C"/>
                </a:solidFill>
                <a:latin typeface="Arial"/>
              </a:defRPr>
            </a:pPr>
            <a:r>
              <a:t>La diversificazione è una proprietà della combinazione, non del singolo titolo.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59436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 i="0">
                <a:solidFill>
                  <a:srgbClr val="0F5B4C"/>
                </a:solidFill>
                <a:latin typeface="Arial"/>
              </a:defRPr>
            </a:pPr>
            <a:r>
              <a:t>FORMULAZIONE CENTRALE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4420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800" b="0" i="0">
                <a:solidFill>
                  <a:srgbClr val="122923"/>
                </a:solidFill>
                <a:latin typeface="Georgia"/>
              </a:defRPr>
            </a:pPr>
            <a:r>
              <a:t>Il problema media-varianza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353312"/>
            <a:ext cx="10863072" cy="0"/>
          </a:xfrm>
          <a:prstGeom prst="line">
            <a:avLst/>
          </a:prstGeom>
          <a:ln w="127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7395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 i="0">
                <a:solidFill>
                  <a:srgbClr val="60706B"/>
                </a:solidFill>
                <a:latin typeface="Arial"/>
              </a:defRPr>
            </a:pPr>
            <a:r>
              <a:t>Fonte: docs/professor-note.md · docs/DSS_MODEL.md · ADR 0008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19088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800" b="0" i="0">
                <a:solidFill>
                  <a:srgbClr val="60706B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" y="1673352"/>
            <a:ext cx="10287000" cy="1115568"/>
          </a:xfrm>
          <a:prstGeom prst="roundRect">
            <a:avLst/>
          </a:prstGeom>
          <a:solidFill>
            <a:srgbClr val="DDEBE5"/>
          </a:solidFill>
          <a:ln w="12700">
            <a:solidFill>
              <a:srgbClr val="DD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1719072"/>
            <a:ext cx="10067544" cy="1024127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3400" b="0" i="0">
                <a:solidFill>
                  <a:srgbClr val="122923"/>
                </a:solidFill>
                <a:latin typeface="Cambria Math"/>
              </a:defRPr>
            </a:pPr>
            <a:r>
              <a:t>maxₓ   μᵀx − λ xᵀΣx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182112"/>
            <a:ext cx="324612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700" b="1" i="0">
                <a:solidFill>
                  <a:srgbClr val="0F5B4C"/>
                </a:solidFill>
                <a:latin typeface="Cambria Math"/>
              </a:defRPr>
            </a:pPr>
            <a:r>
              <a:t>μᵀx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785615"/>
            <a:ext cx="3246120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600" b="0" i="0">
                <a:solidFill>
                  <a:srgbClr val="122923"/>
                </a:solidFill>
                <a:latin typeface="Arial"/>
              </a:defRPr>
            </a:pPr>
            <a:r>
              <a:t>rendimento atteso del portafoglio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182112"/>
            <a:ext cx="324612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700" b="1" i="0">
                <a:solidFill>
                  <a:srgbClr val="17324D"/>
                </a:solidFill>
                <a:latin typeface="Cambria Math"/>
              </a:defRPr>
            </a:pPr>
            <a:r>
              <a:t>xᵀΣx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785615"/>
            <a:ext cx="3246120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600" b="0" i="0">
                <a:solidFill>
                  <a:srgbClr val="122923"/>
                </a:solidFill>
                <a:latin typeface="Arial"/>
              </a:defRPr>
            </a:pPr>
            <a:r>
              <a:t>varianza stimata del portafoglio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3182112"/>
            <a:ext cx="324612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700" b="1" i="0">
                <a:solidFill>
                  <a:srgbClr val="C9862C"/>
                </a:solidFill>
                <a:latin typeface="Cambria Math"/>
              </a:defRPr>
            </a:pPr>
            <a:r>
              <a:t>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3785615"/>
            <a:ext cx="3246120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600" b="0" i="0">
                <a:solidFill>
                  <a:srgbClr val="122923"/>
                </a:solidFill>
                <a:latin typeface="Arial"/>
              </a:defRPr>
            </a:pPr>
            <a:r>
              <a:t>avversione al rischio del modello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4800600"/>
            <a:ext cx="10104120" cy="850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C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928616"/>
            <a:ext cx="9509760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1600" b="0" i="0">
                <a:solidFill>
                  <a:srgbClr val="0F5B4C"/>
                </a:solidFill>
                <a:latin typeface="Arial"/>
              </a:defRPr>
            </a:pPr>
            <a:r>
              <a:t>Aumentare λ rende più costosa la varianza. Diminuirlo dà più peso al rendimento atteso. La preferenza modifica quindi la soluzione.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59436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 i="0">
                <a:solidFill>
                  <a:srgbClr val="0F5B4C"/>
                </a:solidFill>
                <a:latin typeface="Arial"/>
              </a:defRPr>
            </a:pPr>
            <a:r>
              <a:t>FORMULAZIONE CENTRALE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4420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800" b="0" i="0">
                <a:solidFill>
                  <a:srgbClr val="122923"/>
                </a:solidFill>
                <a:latin typeface="Georgia"/>
              </a:defRPr>
            </a:pPr>
            <a:r>
              <a:t>Vincoli e insieme delle soluzioni ammissibili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353312"/>
            <a:ext cx="10863072" cy="0"/>
          </a:xfrm>
          <a:prstGeom prst="line">
            <a:avLst/>
          </a:prstGeom>
          <a:ln w="127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7395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 i="0">
                <a:solidFill>
                  <a:srgbClr val="60706B"/>
                </a:solidFill>
                <a:latin typeface="Arial"/>
              </a:defRPr>
            </a:pPr>
            <a:r>
              <a:t>Fonte: docs/DSS_MODEL.md · ADR 0008 · ADR 0009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19088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800" b="0" i="0">
                <a:solidFill>
                  <a:srgbClr val="60706B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3383280" cy="804672"/>
          </a:xfrm>
          <a:prstGeom prst="roundRect">
            <a:avLst/>
          </a:prstGeom>
          <a:solidFill>
            <a:srgbClr val="DDEBE5"/>
          </a:solidFill>
          <a:ln w="12700">
            <a:solidFill>
              <a:srgbClr val="DD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163824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2500" b="0" i="0">
                <a:solidFill>
                  <a:srgbClr val="122923"/>
                </a:solidFill>
                <a:latin typeface="Cambria Math"/>
              </a:defRPr>
            </a:pPr>
            <a:r>
              <a:t>Σᵢ xᵢ =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788920"/>
            <a:ext cx="3383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 i="0">
                <a:solidFill>
                  <a:srgbClr val="0F5B4C"/>
                </a:solidFill>
                <a:latin typeface="Arial"/>
              </a:defRPr>
            </a:pPr>
            <a:r>
              <a:t>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55264"/>
            <a:ext cx="3163824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700" b="0" i="0">
                <a:solidFill>
                  <a:srgbClr val="122923"/>
                </a:solidFill>
                <a:latin typeface="Arial"/>
              </a:defRPr>
            </a:pPr>
            <a:r>
              <a:t>Il capitale viene allocato interamente.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35424" y="1737360"/>
            <a:ext cx="3383280" cy="804672"/>
          </a:xfrm>
          <a:prstGeom prst="roundRect">
            <a:avLst/>
          </a:prstGeom>
          <a:solidFill>
            <a:srgbClr val="DDEBE5"/>
          </a:solidFill>
          <a:ln w="12700">
            <a:solidFill>
              <a:srgbClr val="DD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5152" y="1783080"/>
            <a:ext cx="3163824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2500" b="0" i="0">
                <a:solidFill>
                  <a:srgbClr val="122923"/>
                </a:solidFill>
                <a:latin typeface="Cambria Math"/>
              </a:defRPr>
            </a:pPr>
            <a:r>
              <a:t>xᵢ ≥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2788920"/>
            <a:ext cx="3383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 i="0">
                <a:solidFill>
                  <a:srgbClr val="0F5B4C"/>
                </a:solidFill>
                <a:latin typeface="Arial"/>
              </a:defRPr>
            </a:pPr>
            <a:r>
              <a:t>Long-only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55264"/>
            <a:ext cx="3163824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700" b="0" i="0">
                <a:solidFill>
                  <a:srgbClr val="122923"/>
                </a:solidFill>
                <a:latin typeface="Arial"/>
              </a:defRPr>
            </a:pPr>
            <a:r>
              <a:t>Il modello non propone vendite allo scoperto.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57615" y="1737360"/>
            <a:ext cx="3383280" cy="804672"/>
          </a:xfrm>
          <a:prstGeom prst="roundRect">
            <a:avLst/>
          </a:prstGeom>
          <a:solidFill>
            <a:srgbClr val="DDEBE5"/>
          </a:solidFill>
          <a:ln w="12700">
            <a:solidFill>
              <a:srgbClr val="DD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7343" y="1783080"/>
            <a:ext cx="3163824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2500" b="0" i="0">
                <a:solidFill>
                  <a:srgbClr val="122923"/>
                </a:solidFill>
                <a:latin typeface="Cambria Math"/>
              </a:defRPr>
            </a:pPr>
            <a:r>
              <a:t>xᵢ ≤ 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5" y="2788920"/>
            <a:ext cx="3383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 i="0">
                <a:solidFill>
                  <a:srgbClr val="0F5B4C"/>
                </a:solidFill>
                <a:latin typeface="Arial"/>
              </a:defRPr>
            </a:pPr>
            <a:r>
              <a:t>Concentrazione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3" y="3255264"/>
            <a:ext cx="3163824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700" b="0" i="0">
                <a:solidFill>
                  <a:srgbClr val="122923"/>
                </a:solidFill>
                <a:latin typeface="Arial"/>
              </a:defRPr>
            </a:pPr>
            <a:r>
              <a:t>Un limite impedisce pesi eccessivi su un titolo.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32688" y="4526280"/>
            <a:ext cx="10268712" cy="0"/>
          </a:xfrm>
          <a:prstGeom prst="line">
            <a:avLst/>
          </a:prstGeom>
          <a:ln w="254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97280" y="4882896"/>
            <a:ext cx="9966960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900" b="0" i="0">
                <a:solidFill>
                  <a:srgbClr val="122923"/>
                </a:solidFill>
                <a:latin typeface="Georgia"/>
              </a:defRPr>
            </a:pPr>
            <a:r>
              <a:t>I vincoli trasformano una preferenza astratta in un insieme di portafogli realizzabili secondo le regole dichiarate.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59436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 i="0">
                <a:solidFill>
                  <a:srgbClr val="0F5B4C"/>
                </a:solidFill>
                <a:latin typeface="Arial"/>
              </a:defRPr>
            </a:pPr>
            <a:r>
              <a:t>DALLA FORMULA ALLA SCELTA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44200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3000" b="0">
                <a:solidFill>
                  <a:srgbClr val="122D27"/>
                </a:solidFill>
                <a:latin typeface="Georgia"/>
              </a:rPr>
              <a:t>Frontiera efficiente e scelte Pareto-efficienti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353312"/>
            <a:ext cx="10863072" cy="0"/>
          </a:xfrm>
          <a:prstGeom prst="line">
            <a:avLst/>
          </a:prstGeom>
          <a:ln w="127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7395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 i="0">
                <a:solidFill>
                  <a:srgbClr val="60706B"/>
                </a:solidFill>
                <a:latin typeface="Arial"/>
              </a:defRPr>
            </a:pPr>
            <a:r>
              <a:t>Fonte: Week 11 frozen case study · ADR 0009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19088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800" b="0" i="0">
                <a:solidFill>
                  <a:srgbClr val="60706B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609344"/>
            <a:ext cx="3913632" cy="768096"/>
          </a:xfrm>
          <a:prstGeom prst="roundRect">
            <a:avLst/>
          </a:prstGeom>
          <a:solidFill>
            <a:srgbClr val="DDEBE5"/>
          </a:solidFill>
          <a:ln w="12700">
            <a:solidFill>
              <a:srgbClr val="DD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55064"/>
            <a:ext cx="3694176" cy="6766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2300" b="0" i="0">
                <a:solidFill>
                  <a:srgbClr val="122923"/>
                </a:solidFill>
                <a:latin typeface="Cambria Math"/>
              </a:defRPr>
            </a:pPr>
            <a:r>
              <a:t>minₓ xᵀΣx    s.t.    μᵀx = 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587752"/>
            <a:ext cx="3703320" cy="9509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0" i="0">
                <a:solidFill>
                  <a:srgbClr val="122923"/>
                </a:solidFill>
                <a:latin typeface="Arial"/>
              </a:defRPr>
            </a:pPr>
            <a:r>
              <a:t>Per ogni rendimento obiettivo τ, il modello cerca la varianza minima compatibile con i vincoli.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3785615"/>
            <a:ext cx="3703320" cy="10607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800" b="1" i="0">
                <a:solidFill>
                  <a:srgbClr val="0F5B4C"/>
                </a:solidFill>
                <a:latin typeface="Arial"/>
              </a:defRPr>
            </a:pPr>
            <a:r>
              <a:t>Ogni punto efficiente è una scelta possibile. Nessun punto domina tutti gli altri su rendimento e rischio.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882896" y="1609344"/>
          <a:ext cx="6428232" cy="43159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Oval 11"/>
          <p:cNvSpPr/>
          <p:nvPr/>
        </p:nvSpPr>
        <p:spPr>
          <a:xfrm>
            <a:off x="5532120" y="5861304"/>
            <a:ext cx="146304" cy="146304"/>
          </a:xfrm>
          <a:prstGeom prst="ellipse">
            <a:avLst/>
          </a:prstGeom>
          <a:solidFill>
            <a:srgbClr val="C9862C"/>
          </a:solidFill>
          <a:ln>
            <a:solidFill>
              <a:srgbClr val="C98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0" y="5815584"/>
            <a:ext cx="1417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 i="0">
                <a:solidFill>
                  <a:srgbClr val="C9862C"/>
                </a:solidFill>
                <a:latin typeface="Arial"/>
              </a:defRPr>
            </a:pPr>
            <a:r>
              <a:t>Conservative</a:t>
            </a:r>
          </a:p>
        </p:txBody>
      </p:sp>
      <p:sp>
        <p:nvSpPr>
          <p:cNvPr id="14" name="Oval 13"/>
          <p:cNvSpPr/>
          <p:nvPr/>
        </p:nvSpPr>
        <p:spPr>
          <a:xfrm>
            <a:off x="7223760" y="5861304"/>
            <a:ext cx="146304" cy="146304"/>
          </a:xfrm>
          <a:prstGeom prst="ellipse">
            <a:avLst/>
          </a:prstGeom>
          <a:solidFill>
            <a:srgbClr val="0F5B4C"/>
          </a:solidFill>
          <a:ln>
            <a:solidFill>
              <a:srgbClr val="0F5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5815584"/>
            <a:ext cx="1417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 i="0">
                <a:solidFill>
                  <a:srgbClr val="0F5B4C"/>
                </a:solidFill>
                <a:latin typeface="Arial"/>
              </a:defRPr>
            </a:pPr>
            <a:r>
              <a:t>Moderate</a:t>
            </a:r>
          </a:p>
        </p:txBody>
      </p:sp>
      <p:sp>
        <p:nvSpPr>
          <p:cNvPr id="16" name="Oval 15"/>
          <p:cNvSpPr/>
          <p:nvPr/>
        </p:nvSpPr>
        <p:spPr>
          <a:xfrm>
            <a:off x="8915400" y="5861304"/>
            <a:ext cx="146304" cy="146304"/>
          </a:xfrm>
          <a:prstGeom prst="ellipse">
            <a:avLst/>
          </a:prstGeom>
          <a:solidFill>
            <a:srgbClr val="7B528F"/>
          </a:solidFill>
          <a:ln>
            <a:solidFill>
              <a:srgbClr val="7B52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5815584"/>
            <a:ext cx="1417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 i="0">
                <a:solidFill>
                  <a:srgbClr val="7B528F"/>
                </a:solidFill>
                <a:latin typeface="Arial"/>
              </a:defRPr>
            </a:pPr>
            <a:r>
              <a:t>Aggressive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59436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 i="0">
                <a:solidFill>
                  <a:srgbClr val="0F5B4C"/>
                </a:solidFill>
                <a:latin typeface="Arial"/>
              </a:defRPr>
            </a:pPr>
            <a:r>
              <a:t>DECISION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4420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800" b="0" i="0">
                <a:solidFill>
                  <a:srgbClr val="122923"/>
                </a:solidFill>
                <a:latin typeface="Georgia"/>
              </a:defRPr>
            </a:pPr>
            <a:r>
              <a:t>Dalla preferenza al punto sulla frontiera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353312"/>
            <a:ext cx="10863072" cy="0"/>
          </a:xfrm>
          <a:prstGeom prst="line">
            <a:avLst/>
          </a:prstGeom>
          <a:ln w="127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7395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 i="0">
                <a:solidFill>
                  <a:srgbClr val="60706B"/>
                </a:solidFill>
                <a:latin typeface="Arial"/>
              </a:defRPr>
            </a:pPr>
            <a:r>
              <a:t>Fonte: docs/DSS_MODEL.md · ADR 0009 · ADR 0010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19088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800" b="0" i="0">
                <a:solidFill>
                  <a:srgbClr val="60706B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636776"/>
            <a:ext cx="10424160" cy="932688"/>
          </a:xfrm>
          <a:prstGeom prst="roundRect">
            <a:avLst/>
          </a:prstGeom>
          <a:solidFill>
            <a:srgbClr val="DDEBE5"/>
          </a:solidFill>
          <a:ln w="12700">
            <a:solidFill>
              <a:srgbClr val="DD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7" y="1682496"/>
            <a:ext cx="10204704" cy="8412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3000" b="0">
                <a:solidFill>
                  <a:srgbClr val="122D27"/>
                </a:solidFill>
                <a:latin typeface="Georgia"/>
              </a:rPr>
              <a:t>τ(f) = μₘᵥ + f(μₘₐₓ − μₘᵥ)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017520"/>
            <a:ext cx="338328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00" b="1" i="0">
                <a:solidFill>
                  <a:srgbClr val="C9862C"/>
                </a:solidFill>
                <a:latin typeface="Arial"/>
              </a:defRPr>
            </a:pPr>
            <a:r>
              <a:t>CONSERVATIVE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3502152"/>
            <a:ext cx="33832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500" b="1" i="0">
                <a:solidFill>
                  <a:srgbClr val="122923"/>
                </a:solidFill>
                <a:latin typeface="Cambria Math"/>
              </a:defRPr>
            </a:pPr>
            <a:r>
              <a:t>f = 0,20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4050791"/>
            <a:ext cx="30175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600" b="0" i="0">
                <a:solidFill>
                  <a:srgbClr val="60706B"/>
                </a:solidFill>
                <a:latin typeface="Arial"/>
              </a:defRPr>
            </a:pPr>
            <a:r>
              <a:t>20% dell’intervallo di rendimento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017520"/>
            <a:ext cx="338328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00" b="1" i="0">
                <a:solidFill>
                  <a:srgbClr val="0F5B4C"/>
                </a:solidFill>
                <a:latin typeface="Arial"/>
              </a:defRPr>
            </a:pPr>
            <a:r>
              <a:t>MODERATE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502152"/>
            <a:ext cx="33832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500" b="1" i="0">
                <a:solidFill>
                  <a:srgbClr val="122923"/>
                </a:solidFill>
                <a:latin typeface="Cambria Math"/>
              </a:defRPr>
            </a:pPr>
            <a:r>
              <a:t>f = 0,50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4050791"/>
            <a:ext cx="30175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600" b="0" i="0">
                <a:solidFill>
                  <a:srgbClr val="60706B"/>
                </a:solidFill>
                <a:latin typeface="Arial"/>
              </a:defRPr>
            </a:pPr>
            <a:r>
              <a:t>50% dell’intervallo di rendimento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5" y="3017520"/>
            <a:ext cx="338328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00" b="1" i="0">
                <a:solidFill>
                  <a:srgbClr val="7B528F"/>
                </a:solidFill>
                <a:latin typeface="Arial"/>
              </a:defRPr>
            </a:pPr>
            <a:r>
              <a:t>AGGRESSIVE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5" y="3502152"/>
            <a:ext cx="33832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500" b="1" i="0">
                <a:solidFill>
                  <a:srgbClr val="122923"/>
                </a:solidFill>
                <a:latin typeface="Cambria Math"/>
              </a:defRPr>
            </a:pPr>
            <a:r>
              <a:t>f = 0,80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0495" y="4050791"/>
            <a:ext cx="30175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600" b="0" i="0">
                <a:solidFill>
                  <a:srgbClr val="60706B"/>
                </a:solidFill>
                <a:latin typeface="Arial"/>
              </a:defRPr>
            </a:pPr>
            <a:r>
              <a:t>80% dell’intervallo di rendimento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1560" y="5111496"/>
            <a:ext cx="100584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C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61872" y="5257800"/>
            <a:ext cx="9646920" cy="35661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1500" b="0" i="0">
                <a:solidFill>
                  <a:srgbClr val="0F5B4C"/>
                </a:solidFill>
                <a:latin typeface="Arial"/>
              </a:defRPr>
            </a:pPr>
            <a:r>
              <a:t>Queste etichette esprimono una preferenza relativa. Non misurano probabilità di perdita, protezione del capitale o suitability regolamentare.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59436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 i="0">
                <a:solidFill>
                  <a:srgbClr val="0F5B4C"/>
                </a:solidFill>
                <a:latin typeface="Arial"/>
              </a:defRPr>
            </a:pPr>
            <a:r>
              <a:t>EVIDENZA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4420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800" b="0" i="0">
                <a:solidFill>
                  <a:srgbClr val="122923"/>
                </a:solidFill>
                <a:latin typeface="Georgia"/>
              </a:defRPr>
            </a:pPr>
            <a:r>
              <a:t>Incertezza e valutazione del modello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353312"/>
            <a:ext cx="10863072" cy="0"/>
          </a:xfrm>
          <a:prstGeom prst="line">
            <a:avLst/>
          </a:prstGeom>
          <a:ln w="127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7395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 i="0">
                <a:solidFill>
                  <a:srgbClr val="60706B"/>
                </a:solidFill>
                <a:latin typeface="Arial"/>
              </a:defRPr>
            </a:pPr>
            <a:r>
              <a:t>Fonte: ADR 0011 · ADR 0013 · docs/METHODOLOGY_AND_RESULTS.md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19088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800" b="0" i="0">
                <a:solidFill>
                  <a:srgbClr val="60706B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664208"/>
            <a:ext cx="498348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 i="0">
                <a:solidFill>
                  <a:srgbClr val="0F5B4C"/>
                </a:solidFill>
                <a:latin typeface="Arial"/>
              </a:defRPr>
            </a:pPr>
            <a:r>
              <a:t>MONTE CARLO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084831"/>
            <a:ext cx="5166360" cy="932688"/>
          </a:xfrm>
          <a:prstGeom prst="roundRect">
            <a:avLst/>
          </a:prstGeom>
          <a:solidFill>
            <a:srgbClr val="DDEBE5"/>
          </a:solidFill>
          <a:ln w="12700">
            <a:solidFill>
              <a:srgbClr val="DD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130551"/>
            <a:ext cx="4946904" cy="8412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1900" b="0" i="0">
                <a:solidFill>
                  <a:srgbClr val="122923"/>
                </a:solidFill>
                <a:latin typeface="Cambria Math"/>
              </a:defRPr>
            </a:pPr>
            <a:r>
              <a:t>Vₜ₊Δₜ = Vₜ · exp[(μ − σ²/2)Δt + σ√Δt Z]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64408"/>
            <a:ext cx="4892040" cy="9326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0" i="0">
                <a:solidFill>
                  <a:srgbClr val="122923"/>
                </a:solidFill>
                <a:latin typeface="Arial"/>
              </a:defRPr>
            </a:pPr>
            <a:r>
              <a:t>Esplora una distribuzione di esiti condizionata a μ e σ stimati. Le bande non includono l’incertezza dei parametri.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1664208"/>
            <a:ext cx="498348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 i="0">
                <a:solidFill>
                  <a:srgbClr val="17324D"/>
                </a:solidFill>
                <a:latin typeface="Arial"/>
              </a:defRPr>
            </a:pPr>
            <a:r>
              <a:t>WALK-FORWARD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0" y="2304288"/>
            <a:ext cx="274320" cy="274320"/>
          </a:xfrm>
          <a:prstGeom prst="ellipse">
            <a:avLst/>
          </a:prstGeom>
          <a:solidFill>
            <a:srgbClr val="17324D"/>
          </a:solidFill>
          <a:ln>
            <a:solidFill>
              <a:srgbClr val="17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9904" y="2734056"/>
            <a:ext cx="932688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00" b="0" i="0">
                <a:solidFill>
                  <a:srgbClr val="60706B"/>
                </a:solidFill>
                <a:latin typeface="Arial"/>
              </a:defRPr>
            </a:pPr>
            <a:r>
              <a:t>stima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84264" y="2441448"/>
            <a:ext cx="905256" cy="0"/>
          </a:xfrm>
          <a:prstGeom prst="line">
            <a:avLst/>
          </a:prstGeom>
          <a:ln w="19050">
            <a:solidFill>
              <a:srgbClr val="173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7607808" y="2304288"/>
            <a:ext cx="274320" cy="274320"/>
          </a:xfrm>
          <a:prstGeom prst="ellipse">
            <a:avLst/>
          </a:prstGeom>
          <a:solidFill>
            <a:srgbClr val="17324D"/>
          </a:solidFill>
          <a:ln>
            <a:solidFill>
              <a:srgbClr val="17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96912" y="2734056"/>
            <a:ext cx="932688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00" b="0" i="0">
                <a:solidFill>
                  <a:srgbClr val="60706B"/>
                </a:solidFill>
                <a:latin typeface="Arial"/>
              </a:defRPr>
            </a:pPr>
            <a:r>
              <a:t>allocazione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91272" y="2441448"/>
            <a:ext cx="905256" cy="0"/>
          </a:xfrm>
          <a:prstGeom prst="line">
            <a:avLst/>
          </a:prstGeom>
          <a:ln w="19050">
            <a:solidFill>
              <a:srgbClr val="173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8814816" y="2304288"/>
            <a:ext cx="274320" cy="274320"/>
          </a:xfrm>
          <a:prstGeom prst="ellipse">
            <a:avLst/>
          </a:prstGeom>
          <a:solidFill>
            <a:srgbClr val="17324D"/>
          </a:solidFill>
          <a:ln>
            <a:solidFill>
              <a:srgbClr val="17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2734056"/>
            <a:ext cx="932688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00" b="0" i="0">
                <a:solidFill>
                  <a:srgbClr val="60706B"/>
                </a:solidFill>
                <a:latin typeface="Arial"/>
              </a:defRPr>
            </a:pPr>
            <a:r>
              <a:t>periodo osservato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098280" y="2441448"/>
            <a:ext cx="905256" cy="0"/>
          </a:xfrm>
          <a:prstGeom prst="line">
            <a:avLst/>
          </a:prstGeom>
          <a:ln w="19050">
            <a:solidFill>
              <a:srgbClr val="173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0021824" y="2304288"/>
            <a:ext cx="274320" cy="274320"/>
          </a:xfrm>
          <a:prstGeom prst="ellipse">
            <a:avLst/>
          </a:prstGeom>
          <a:solidFill>
            <a:srgbClr val="17324D"/>
          </a:solidFill>
          <a:ln>
            <a:solidFill>
              <a:srgbClr val="17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10928" y="2734056"/>
            <a:ext cx="932688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00" b="0" i="0">
                <a:solidFill>
                  <a:srgbClr val="60706B"/>
                </a:solidFill>
                <a:latin typeface="Arial"/>
              </a:defRPr>
            </a:pPr>
            <a:r>
              <a:t>nuova stima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2512" y="3264408"/>
            <a:ext cx="4663440" cy="9326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0" i="0">
                <a:solidFill>
                  <a:srgbClr val="122923"/>
                </a:solidFill>
                <a:latin typeface="Arial"/>
              </a:defRPr>
            </a:pPr>
            <a:r>
              <a:t>Valuta decisioni usando soltanto informazioni disponibili prima di ogni data di esecuzione.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68680" y="4672584"/>
            <a:ext cx="10287000" cy="0"/>
          </a:xfrm>
          <a:prstGeom prst="line">
            <a:avLst/>
          </a:prstGeom>
          <a:ln w="254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41248" y="4800600"/>
            <a:ext cx="3383280" cy="1024128"/>
          </a:xfrm>
          <a:prstGeom prst="roundRect">
            <a:avLst/>
          </a:prstGeom>
          <a:solidFill>
            <a:srgbClr val="DDEBE5"/>
          </a:solidFill>
          <a:ln w="15240">
            <a:solidFill>
              <a:srgbClr val="DDEB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928616"/>
            <a:ext cx="305409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0E6655"/>
                </a:solidFill>
                <a:latin typeface="Arial"/>
              </a:rPr>
              <a:t>ROLLING · VALORE FINALE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184648"/>
            <a:ext cx="305409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22D27"/>
                </a:solidFill>
                <a:latin typeface="Arial"/>
              </a:rPr>
              <a:t>Storica 41.945 USD  &gt;  esponenziale 39.767 USD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07408" y="4800600"/>
            <a:ext cx="3383280" cy="1024128"/>
          </a:xfrm>
          <a:prstGeom prst="roundRect">
            <a:avLst/>
          </a:prstGeom>
          <a:solidFill>
            <a:srgbClr val="DDEBE5"/>
          </a:solidFill>
          <a:ln w="15240">
            <a:solidFill>
              <a:srgbClr val="DDEB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4928616"/>
            <a:ext cx="305409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7324D"/>
                </a:solidFill>
                <a:latin typeface="Arial"/>
              </a:rPr>
              <a:t>EXPANDING · VALORE FINALE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5184648"/>
            <a:ext cx="305409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22D27"/>
                </a:solidFill>
                <a:latin typeface="Arial"/>
              </a:rPr>
              <a:t>Esponenziale 41.208 USD  &gt;  storica 38.265 USD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73568" y="4800600"/>
            <a:ext cx="3383280" cy="10241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B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4928616"/>
            <a:ext cx="305409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C9821B"/>
                </a:solidFill>
                <a:latin typeface="Arial"/>
              </a:rPr>
              <a:t>LETTURA DSS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5184648"/>
            <a:ext cx="305409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E6655"/>
                </a:solidFill>
                <a:latin typeface="Arial"/>
              </a:rPr>
              <a:t>Il ranking si inverte: nessun vincitore universale.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59436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 i="0">
                <a:solidFill>
                  <a:srgbClr val="0F5B4C"/>
                </a:solidFill>
                <a:latin typeface="Arial"/>
              </a:defRPr>
            </a:pPr>
            <a:r>
              <a:t>IMPLEMENTAZIONE DEL DSS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4420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800" b="0" i="0">
                <a:solidFill>
                  <a:srgbClr val="122923"/>
                </a:solidFill>
                <a:latin typeface="Georgia"/>
              </a:defRPr>
            </a:pPr>
            <a:r>
              <a:t>Dal modello matematico a un processo decisionale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353312"/>
            <a:ext cx="10863072" cy="0"/>
          </a:xfrm>
          <a:prstGeom prst="line">
            <a:avLst/>
          </a:prstGeom>
          <a:ln w="127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7395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 i="0">
                <a:solidFill>
                  <a:srgbClr val="60706B"/>
                </a:solidFill>
                <a:latin typeface="Arial"/>
              </a:defRPr>
            </a:pPr>
            <a:r>
              <a:t>Fonte: docs/ARCHITECTURE.md · ADR 0009 · ADR 0014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19088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800" b="0" i="0">
                <a:solidFill>
                  <a:srgbClr val="60706B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7" name="Oval 6"/>
          <p:cNvSpPr/>
          <p:nvPr/>
        </p:nvSpPr>
        <p:spPr>
          <a:xfrm>
            <a:off x="1335024" y="1828800"/>
            <a:ext cx="420624" cy="420624"/>
          </a:xfrm>
          <a:prstGeom prst="ellipse">
            <a:avLst/>
          </a:prstGeom>
          <a:solidFill>
            <a:srgbClr val="0F5B4C"/>
          </a:solidFill>
          <a:ln>
            <a:solidFill>
              <a:srgbClr val="0F5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1901952"/>
            <a:ext cx="420624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87168"/>
            <a:ext cx="1810512" cy="6126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00" b="1" i="0">
                <a:solidFill>
                  <a:srgbClr val="122923"/>
                </a:solidFill>
                <a:latin typeface="Arial"/>
              </a:defRPr>
            </a:pPr>
            <a:r>
              <a:t>CAMPIONE</a:t>
            </a:r>
            <a:br/>
            <a:r>
              <a:t>COERENTE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810512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00" b="0" i="0">
                <a:solidFill>
                  <a:srgbClr val="60706B"/>
                </a:solidFill>
                <a:latin typeface="Arial"/>
              </a:defRPr>
            </a:pPr>
            <a:r>
              <a:t>stesse date e convenzioni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55648" y="2039112"/>
            <a:ext cx="1837943" cy="0"/>
          </a:xfrm>
          <a:prstGeom prst="line">
            <a:avLst/>
          </a:prstGeom>
          <a:ln w="17780">
            <a:solidFill>
              <a:srgbClr val="1F7A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3611880" y="1828800"/>
            <a:ext cx="420624" cy="420624"/>
          </a:xfrm>
          <a:prstGeom prst="ellipse">
            <a:avLst/>
          </a:prstGeom>
          <a:solidFill>
            <a:srgbClr val="0F5B4C"/>
          </a:solidFill>
          <a:ln>
            <a:solidFill>
              <a:srgbClr val="0F5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901952"/>
            <a:ext cx="420624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6936" y="2487168"/>
            <a:ext cx="1810512" cy="6126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00" b="1" i="0">
                <a:solidFill>
                  <a:srgbClr val="122923"/>
                </a:solidFill>
                <a:latin typeface="Arial"/>
              </a:defRPr>
            </a:pPr>
            <a:r>
              <a:t>STIME</a:t>
            </a:r>
            <a:br/>
            <a:r>
              <a:t>μ, 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6936" y="3200400"/>
            <a:ext cx="1810512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00" b="0" i="0">
                <a:solidFill>
                  <a:srgbClr val="60706B"/>
                </a:solidFill>
                <a:latin typeface="Arial"/>
              </a:defRPr>
            </a:pPr>
            <a:r>
              <a:t>modello dichiarato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032504" y="2039112"/>
            <a:ext cx="1837944" cy="0"/>
          </a:xfrm>
          <a:prstGeom prst="line">
            <a:avLst/>
          </a:prstGeom>
          <a:ln w="17780">
            <a:solidFill>
              <a:srgbClr val="1F7A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888736" y="1828800"/>
            <a:ext cx="420624" cy="420624"/>
          </a:xfrm>
          <a:prstGeom prst="ellipse">
            <a:avLst/>
          </a:prstGeom>
          <a:solidFill>
            <a:srgbClr val="0F5B4C"/>
          </a:solidFill>
          <a:ln>
            <a:solidFill>
              <a:srgbClr val="0F5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88736" y="1901952"/>
            <a:ext cx="420624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93792" y="2487168"/>
            <a:ext cx="1810512" cy="6126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00" b="1" i="0">
                <a:solidFill>
                  <a:srgbClr val="122923"/>
                </a:solidFill>
                <a:latin typeface="Arial"/>
              </a:defRPr>
            </a:pPr>
            <a:r>
              <a:t>ALTERNATIVE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3792" y="3200400"/>
            <a:ext cx="1810512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00" b="0" i="0">
                <a:solidFill>
                  <a:srgbClr val="60706B"/>
                </a:solidFill>
                <a:latin typeface="Arial"/>
              </a:defRPr>
            </a:pPr>
            <a:r>
              <a:t>frontiera e baseline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09360" y="2039112"/>
            <a:ext cx="1837944" cy="0"/>
          </a:xfrm>
          <a:prstGeom prst="line">
            <a:avLst/>
          </a:prstGeom>
          <a:ln w="17780">
            <a:solidFill>
              <a:srgbClr val="1F7A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8165592" y="1828800"/>
            <a:ext cx="420624" cy="420624"/>
          </a:xfrm>
          <a:prstGeom prst="ellipse">
            <a:avLst/>
          </a:prstGeom>
          <a:solidFill>
            <a:srgbClr val="0F5B4C"/>
          </a:solidFill>
          <a:ln>
            <a:solidFill>
              <a:srgbClr val="0F5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65592" y="1901952"/>
            <a:ext cx="420624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70648" y="2487168"/>
            <a:ext cx="1810512" cy="6126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00" b="1" i="0">
                <a:solidFill>
                  <a:srgbClr val="122923"/>
                </a:solidFill>
                <a:latin typeface="Arial"/>
              </a:defRPr>
            </a:pPr>
            <a:r>
              <a:t>SPIEGAZIONI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3200400"/>
            <a:ext cx="1810512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00" b="0" i="0">
                <a:solidFill>
                  <a:srgbClr val="60706B"/>
                </a:solidFill>
                <a:latin typeface="Arial"/>
              </a:defRPr>
            </a:pPr>
            <a:r>
              <a:t>fatti numerici tracciabili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586216" y="2039112"/>
            <a:ext cx="1837944" cy="0"/>
          </a:xfrm>
          <a:prstGeom prst="line">
            <a:avLst/>
          </a:prstGeom>
          <a:ln w="17780">
            <a:solidFill>
              <a:srgbClr val="1F7A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10442448" y="1828800"/>
            <a:ext cx="420624" cy="420624"/>
          </a:xfrm>
          <a:prstGeom prst="ellipse">
            <a:avLst/>
          </a:prstGeom>
          <a:solidFill>
            <a:srgbClr val="C9862C"/>
          </a:solidFill>
          <a:ln>
            <a:solidFill>
              <a:srgbClr val="C98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42448" y="1901952"/>
            <a:ext cx="420624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7504" y="2487168"/>
            <a:ext cx="1810512" cy="6126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00" b="1" i="0">
                <a:solidFill>
                  <a:srgbClr val="122923"/>
                </a:solidFill>
                <a:latin typeface="Arial"/>
              </a:defRPr>
            </a:pPr>
            <a:r>
              <a:t>SCELTA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47504" y="3200400"/>
            <a:ext cx="1810512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00" b="0" i="0">
                <a:solidFill>
                  <a:srgbClr val="60706B"/>
                </a:solidFill>
                <a:latin typeface="Arial"/>
              </a:defRPr>
            </a:pPr>
            <a:r>
              <a:t>resta all’utente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0120" y="4343400"/>
            <a:ext cx="10241280" cy="1078992"/>
          </a:xfrm>
          <a:prstGeom prst="roundRect">
            <a:avLst/>
          </a:prstGeom>
          <a:solidFill>
            <a:srgbClr val="DDEBE5"/>
          </a:solidFill>
          <a:ln w="12700">
            <a:solidFill>
              <a:srgbClr val="DD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16736" y="4526280"/>
            <a:ext cx="950976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1700" b="0" i="0">
                <a:solidFill>
                  <a:srgbClr val="0F5B4C"/>
                </a:solidFill>
                <a:latin typeface="Georgia"/>
              </a:defRPr>
            </a:pPr>
            <a:r>
              <a:t>Il contributo progettuale non coincide con un singolo algoritmo: consiste nel mantenere confrontabili input, modelli, alternative ed evidenza durante l’intero processo.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59436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 i="0">
                <a:solidFill>
                  <a:srgbClr val="0F5B4C"/>
                </a:solidFill>
                <a:latin typeface="Arial"/>
              </a:defRPr>
            </a:pPr>
            <a:r>
              <a:t>IMPLEMENTAZIONE DEL DSS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4420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800" b="0" i="0">
                <a:solidFill>
                  <a:srgbClr val="122923"/>
                </a:solidFill>
                <a:latin typeface="Georgia"/>
              </a:defRPr>
            </a:pPr>
            <a:r>
              <a:t>Scelte implementative che rendono affidabile il DSS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353312"/>
            <a:ext cx="10863072" cy="0"/>
          </a:xfrm>
          <a:prstGeom prst="line">
            <a:avLst/>
          </a:prstGeom>
          <a:ln w="127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7395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 i="0">
                <a:solidFill>
                  <a:srgbClr val="60706B"/>
                </a:solidFill>
                <a:latin typeface="Arial"/>
              </a:defRPr>
            </a:pPr>
            <a:r>
              <a:t>Fonte: ADR 0008 · ADR 0009 · ADR 0011 · ADR 0014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19088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800" b="0" i="0">
                <a:solidFill>
                  <a:srgbClr val="60706B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498348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 i="0">
                <a:solidFill>
                  <a:srgbClr val="0F5B4C"/>
                </a:solidFill>
                <a:latin typeface="Arial"/>
              </a:defRPr>
            </a:pPr>
            <a:r>
              <a:t>COERENZA DEL MODELLO</a:t>
            </a:r>
          </a:p>
        </p:txBody>
      </p:sp>
      <p:sp>
        <p:nvSpPr>
          <p:cNvPr id="8" name="Oval 7"/>
          <p:cNvSpPr/>
          <p:nvPr/>
        </p:nvSpPr>
        <p:spPr>
          <a:xfrm>
            <a:off x="841248" y="2258568"/>
            <a:ext cx="91440" cy="91440"/>
          </a:xfrm>
          <a:prstGeom prst="ellipse">
            <a:avLst/>
          </a:prstGeom>
          <a:solidFill>
            <a:srgbClr val="0F5B4C"/>
          </a:solidFill>
          <a:ln>
            <a:solidFill>
              <a:srgbClr val="0F5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2139696"/>
            <a:ext cx="4663440" cy="7741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defRPr sz="1550" b="0" i="0">
                <a:solidFill>
                  <a:srgbClr val="122923"/>
                </a:solidFill>
                <a:latin typeface="Arial"/>
              </a:defRPr>
            </a:pPr>
            <a:r>
              <a:t>Tutte le alternative condividono finestra, dati e convenzioni.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3142488"/>
            <a:ext cx="91440" cy="91440"/>
          </a:xfrm>
          <a:prstGeom prst="ellipse">
            <a:avLst/>
          </a:prstGeom>
          <a:solidFill>
            <a:srgbClr val="0F5B4C"/>
          </a:solidFill>
          <a:ln>
            <a:solidFill>
              <a:srgbClr val="0F5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" y="3023616"/>
            <a:ext cx="4663440" cy="7741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defRPr sz="1550" b="0" i="0">
                <a:solidFill>
                  <a:srgbClr val="122923"/>
                </a:solidFill>
                <a:latin typeface="Arial"/>
              </a:defRPr>
            </a:pPr>
            <a:r>
              <a:t>La sorgente di μ può cambiare senza riscrivere l’ottimizzatore.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" y="4026408"/>
            <a:ext cx="91440" cy="91440"/>
          </a:xfrm>
          <a:prstGeom prst="ellipse">
            <a:avLst/>
          </a:prstGeom>
          <a:solidFill>
            <a:srgbClr val="0F5B4C"/>
          </a:solidFill>
          <a:ln>
            <a:solidFill>
              <a:srgbClr val="0F5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3907536"/>
            <a:ext cx="4663440" cy="7741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defRPr sz="1550" b="0" i="0">
                <a:solidFill>
                  <a:srgbClr val="122923"/>
                </a:solidFill>
                <a:latin typeface="Arial"/>
              </a:defRPr>
            </a:pPr>
            <a:r>
              <a:t>Ogni soluzione supera un controllo indipendente dei vincoli.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89320" y="1700784"/>
            <a:ext cx="0" cy="3557016"/>
          </a:xfrm>
          <a:prstGeom prst="line">
            <a:avLst/>
          </a:prstGeom>
          <a:ln w="254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82512" y="1664208"/>
            <a:ext cx="498348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 i="0">
                <a:solidFill>
                  <a:srgbClr val="17324D"/>
                </a:solidFill>
                <a:latin typeface="Arial"/>
              </a:defRPr>
            </a:pPr>
            <a:r>
              <a:t>TRACCIABILITÀ DEL RISULTATO</a:t>
            </a:r>
          </a:p>
        </p:txBody>
      </p:sp>
      <p:sp>
        <p:nvSpPr>
          <p:cNvPr id="16" name="Oval 15"/>
          <p:cNvSpPr/>
          <p:nvPr/>
        </p:nvSpPr>
        <p:spPr>
          <a:xfrm>
            <a:off x="6419088" y="2258568"/>
            <a:ext cx="91440" cy="91440"/>
          </a:xfrm>
          <a:prstGeom prst="ellipse">
            <a:avLst/>
          </a:prstGeom>
          <a:solidFill>
            <a:srgbClr val="17324D"/>
          </a:solidFill>
          <a:ln>
            <a:solidFill>
              <a:srgbClr val="17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7688" y="2139696"/>
            <a:ext cx="4480560" cy="7741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defRPr sz="1550" b="0" i="0">
                <a:solidFill>
                  <a:srgbClr val="122923"/>
                </a:solidFill>
                <a:latin typeface="Arial"/>
              </a:defRPr>
            </a:pPr>
            <a:r>
              <a:t>I dati mancanti producono esclusioni o errori espliciti.</a:t>
            </a:r>
          </a:p>
        </p:txBody>
      </p:sp>
      <p:sp>
        <p:nvSpPr>
          <p:cNvPr id="18" name="Oval 17"/>
          <p:cNvSpPr/>
          <p:nvPr/>
        </p:nvSpPr>
        <p:spPr>
          <a:xfrm>
            <a:off x="6419088" y="3142488"/>
            <a:ext cx="91440" cy="91440"/>
          </a:xfrm>
          <a:prstGeom prst="ellipse">
            <a:avLst/>
          </a:prstGeom>
          <a:solidFill>
            <a:srgbClr val="17324D"/>
          </a:solidFill>
          <a:ln>
            <a:solidFill>
              <a:srgbClr val="17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7688" y="3023616"/>
            <a:ext cx="4480560" cy="7741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defRPr sz="1550" b="0" i="0">
                <a:solidFill>
                  <a:srgbClr val="122923"/>
                </a:solidFill>
                <a:latin typeface="Arial"/>
              </a:defRPr>
            </a:pPr>
            <a:r>
              <a:t>Ogni spiegazione rimanda a fatti numerici identificabili.</a:t>
            </a:r>
          </a:p>
        </p:txBody>
      </p:sp>
      <p:sp>
        <p:nvSpPr>
          <p:cNvPr id="20" name="Oval 19"/>
          <p:cNvSpPr/>
          <p:nvPr/>
        </p:nvSpPr>
        <p:spPr>
          <a:xfrm>
            <a:off x="6419088" y="4026408"/>
            <a:ext cx="91440" cy="91440"/>
          </a:xfrm>
          <a:prstGeom prst="ellipse">
            <a:avLst/>
          </a:prstGeom>
          <a:solidFill>
            <a:srgbClr val="17324D"/>
          </a:solidFill>
          <a:ln>
            <a:solidFill>
              <a:srgbClr val="17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3907536"/>
            <a:ext cx="4480560" cy="7741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defRPr sz="1550" b="0" i="0">
                <a:solidFill>
                  <a:srgbClr val="122923"/>
                </a:solidFill>
                <a:latin typeface="Arial"/>
              </a:defRPr>
            </a:pPr>
            <a:r>
              <a:t>Seed e hash rendono riproducibili simulazioni e report.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" y="5166360"/>
            <a:ext cx="1019556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C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98448" y="5303520"/>
            <a:ext cx="95554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600" b="1" i="0">
                <a:solidFill>
                  <a:srgbClr val="C9862C"/>
                </a:solidFill>
                <a:latin typeface="Arial"/>
              </a:defRPr>
            </a:pPr>
            <a:r>
              <a:t>Un risultato non valido non diventa una raccomandazione: il sistema fallisce in modo visibile.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59436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 i="0">
                <a:solidFill>
                  <a:srgbClr val="0F5B4C"/>
                </a:solidFill>
                <a:latin typeface="Arial"/>
              </a:defRPr>
            </a:pPr>
            <a:r>
              <a:t>SINTESI 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4420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800" b="0" i="0">
                <a:solidFill>
                  <a:srgbClr val="122923"/>
                </a:solidFill>
                <a:latin typeface="Georgia"/>
              </a:defRPr>
            </a:pPr>
            <a:r>
              <a:t>Perché Portfolio DSS è un buon sistema di supporto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353312"/>
            <a:ext cx="10863072" cy="0"/>
          </a:xfrm>
          <a:prstGeom prst="line">
            <a:avLst/>
          </a:prstGeom>
          <a:ln w="127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7395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 i="0">
                <a:solidFill>
                  <a:srgbClr val="60706B"/>
                </a:solidFill>
                <a:latin typeface="Arial"/>
              </a:defRPr>
            </a:pPr>
            <a:r>
              <a:t>Fonte: docs/PRODUCT.md · docs/LIMITATIONS.md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19088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800" b="0" i="0">
                <a:solidFill>
                  <a:srgbClr val="60706B"/>
                </a:solidFill>
                <a:latin typeface="Arial"/>
              </a:defRPr>
            </a:pPr>
            <a: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572768"/>
            <a:ext cx="438912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 i="0">
                <a:solidFill>
                  <a:srgbClr val="C9862C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545336"/>
            <a:ext cx="36576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 i="0">
                <a:solidFill>
                  <a:srgbClr val="0F5B4C"/>
                </a:solidFill>
                <a:latin typeface="Arial"/>
              </a:defRPr>
            </a:pPr>
            <a:r>
              <a:t>INFORMA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60" y="1527048"/>
            <a:ext cx="612648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0" i="0">
                <a:solidFill>
                  <a:srgbClr val="122923"/>
                </a:solidFill>
                <a:latin typeface="Arial"/>
              </a:defRPr>
            </a:pPr>
            <a:r>
              <a:t>periodo, dati, convenzioni e provenienza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17320" y="2075688"/>
            <a:ext cx="9464040" cy="0"/>
          </a:xfrm>
          <a:prstGeom prst="line">
            <a:avLst/>
          </a:prstGeom>
          <a:ln w="127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41248" y="2377440"/>
            <a:ext cx="438912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 i="0">
                <a:solidFill>
                  <a:srgbClr val="C9862C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350008"/>
            <a:ext cx="36576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 i="0">
                <a:solidFill>
                  <a:srgbClr val="0F5B4C"/>
                </a:solidFill>
                <a:latin typeface="Arial"/>
              </a:defRPr>
            </a:pPr>
            <a:r>
              <a:t>CONFRONTA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331720"/>
            <a:ext cx="612648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0" i="0">
                <a:solidFill>
                  <a:srgbClr val="122923"/>
                </a:solidFill>
                <a:latin typeface="Arial"/>
              </a:defRPr>
            </a:pPr>
            <a:r>
              <a:t>profili, pesi uguali e benchmark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17320" y="2880360"/>
            <a:ext cx="9464040" cy="0"/>
          </a:xfrm>
          <a:prstGeom prst="line">
            <a:avLst/>
          </a:prstGeom>
          <a:ln w="127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3182112"/>
            <a:ext cx="438912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 i="0">
                <a:solidFill>
                  <a:srgbClr val="C9862C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154680"/>
            <a:ext cx="36576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 i="0">
                <a:solidFill>
                  <a:srgbClr val="0F5B4C"/>
                </a:solidFill>
                <a:latin typeface="Arial"/>
              </a:defRPr>
            </a:pPr>
            <a:r>
              <a:t>RENDE VISIBILE L’INCERTEZZA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3136392"/>
            <a:ext cx="612648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0" i="0">
                <a:solidFill>
                  <a:srgbClr val="122923"/>
                </a:solidFill>
                <a:latin typeface="Arial"/>
              </a:defRPr>
            </a:pPr>
            <a:r>
              <a:t>stime, simulazioni e risultati fuori campione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7320" y="3685032"/>
            <a:ext cx="9464040" cy="0"/>
          </a:xfrm>
          <a:prstGeom prst="line">
            <a:avLst/>
          </a:prstGeom>
          <a:ln w="127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986784"/>
            <a:ext cx="438912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 i="0">
                <a:solidFill>
                  <a:srgbClr val="C9862C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959352"/>
            <a:ext cx="36576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 i="0">
                <a:solidFill>
                  <a:srgbClr val="0F5B4C"/>
                </a:solidFill>
                <a:latin typeface="Arial"/>
              </a:defRPr>
            </a:pPr>
            <a:r>
              <a:t>SPIEGA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3941064"/>
            <a:ext cx="612648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0" i="0">
                <a:solidFill>
                  <a:srgbClr val="122923"/>
                </a:solidFill>
                <a:latin typeface="Arial"/>
              </a:defRPr>
            </a:pPr>
            <a:r>
              <a:t>fatti numerici, vincoli e limiti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417320" y="4489704"/>
            <a:ext cx="9464040" cy="0"/>
          </a:xfrm>
          <a:prstGeom prst="line">
            <a:avLst/>
          </a:prstGeom>
          <a:ln w="127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791456"/>
            <a:ext cx="438912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 i="0">
                <a:solidFill>
                  <a:srgbClr val="C9862C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4764024"/>
            <a:ext cx="36576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 i="0">
                <a:solidFill>
                  <a:srgbClr val="0F5B4C"/>
                </a:solidFill>
                <a:latin typeface="Arial"/>
              </a:defRPr>
            </a:pPr>
            <a:r>
              <a:t>NON SOSTITUISCE L’UTENTE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60" y="4745736"/>
            <a:ext cx="612648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0" i="0">
                <a:solidFill>
                  <a:srgbClr val="122923"/>
                </a:solidFill>
                <a:latin typeface="Arial"/>
              </a:defRPr>
            </a:pPr>
            <a:r>
              <a:t>nessuna esecuzione e nessuna garanzia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70432" y="5650992"/>
            <a:ext cx="9829800" cy="566928"/>
          </a:xfrm>
          <a:prstGeom prst="roundRect">
            <a:avLst/>
          </a:prstGeom>
          <a:solidFill>
            <a:srgbClr val="DDEBE5"/>
          </a:solidFill>
          <a:ln w="12700">
            <a:solidFill>
              <a:srgbClr val="DD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17320" y="5760720"/>
            <a:ext cx="9326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600" b="1" i="0">
                <a:solidFill>
                  <a:srgbClr val="0F5B4C"/>
                </a:solidFill>
                <a:latin typeface="Arial"/>
              </a:defRPr>
            </a:pPr>
            <a:r>
              <a:t>Ora la demo mostra questo ciclo: preferenza, alternative, spiegazioni, incertezza e scelta.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59436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 i="0">
                <a:solidFill>
                  <a:srgbClr val="0F5B4C"/>
                </a:solidFill>
                <a:latin typeface="Arial"/>
              </a:defRPr>
            </a:pPr>
            <a:r>
              <a:t>APPENDICE MATEMATICA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4420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800" b="0" i="0">
                <a:solidFill>
                  <a:srgbClr val="122923"/>
                </a:solidFill>
                <a:latin typeface="Georgia"/>
              </a:defRPr>
            </a:pPr>
            <a:r>
              <a:t>Stima del rendimento atteso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353312"/>
            <a:ext cx="10863072" cy="0"/>
          </a:xfrm>
          <a:prstGeom prst="line">
            <a:avLst/>
          </a:prstGeom>
          <a:ln w="127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7395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 i="0">
                <a:solidFill>
                  <a:srgbClr val="60706B"/>
                </a:solidFill>
                <a:latin typeface="Arial"/>
              </a:defRPr>
            </a:pPr>
            <a:r>
              <a:t>Fonte: docs/METHODOLOGY_AND_RESULTS.md · ADR 0012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19088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800" b="0" i="0">
                <a:solidFill>
                  <a:srgbClr val="60706B"/>
                </a:solidFill>
                <a:latin typeface="Arial"/>
              </a:defRPr>
            </a:pPr>
            <a:r>
              <a:t>A1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" y="1664208"/>
            <a:ext cx="10561320" cy="868680"/>
          </a:xfrm>
          <a:prstGeom prst="roundRect">
            <a:avLst/>
          </a:prstGeom>
          <a:solidFill>
            <a:srgbClr val="DDEBE5"/>
          </a:solidFill>
          <a:ln w="12700">
            <a:solidFill>
              <a:srgbClr val="DD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709928"/>
            <a:ext cx="10341864" cy="7772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2400" b="0" i="0">
                <a:solidFill>
                  <a:srgbClr val="122923"/>
                </a:solidFill>
                <a:latin typeface="Cambria Math"/>
              </a:defRPr>
            </a:pPr>
            <a:r>
              <a:t>Media storica:   μ̂ᵢ = 252 · (1/T) Σₜ rᵢ,ₜ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862072"/>
            <a:ext cx="10341864" cy="7315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700">
                <a:solidFill>
                  <a:srgbClr val="122D27"/>
                </a:solidFill>
                <a:latin typeface="Georgia"/>
              </a:rPr>
              <a:t>wₜ = exp[−ln(2)·ageₜ/63] / Σₛ exp[−ln(2)·ageₛ/63]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3822191"/>
            <a:ext cx="10561320" cy="868680"/>
          </a:xfrm>
          <a:prstGeom prst="roundRect">
            <a:avLst/>
          </a:prstGeom>
          <a:solidFill>
            <a:srgbClr val="DDEBE5"/>
          </a:solidFill>
          <a:ln w="12700">
            <a:solidFill>
              <a:srgbClr val="DD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867911"/>
            <a:ext cx="10341864" cy="7772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2400" b="0" i="0">
                <a:solidFill>
                  <a:srgbClr val="122923"/>
                </a:solidFill>
                <a:latin typeface="Cambria Math"/>
              </a:defRPr>
            </a:pPr>
            <a:r>
              <a:t>Media esponenziale:   μ̂ᵢ,EW = 252 · Σₜ wₜ rᵢ,ₜ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965192"/>
            <a:ext cx="9829800" cy="8778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600" b="0" i="0">
                <a:solidFill>
                  <a:srgbClr val="122923"/>
                </a:solidFill>
                <a:latin typeface="Arial"/>
              </a:defRPr>
            </a:pPr>
            <a:r>
              <a:t>I pesi esponenziali sono normalizzati sull’intero campione. La half-life di 63 osservazioni assegna maggiore rilevanza ai dati recenti senza addestrare un modello opaco.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59436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 i="0">
                <a:solidFill>
                  <a:srgbClr val="0F5B4C"/>
                </a:solidFill>
                <a:latin typeface="Arial"/>
              </a:defRPr>
            </a:pPr>
            <a:r>
              <a:t>APPENDICE MATEMATICA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4420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800" b="0" i="0">
                <a:solidFill>
                  <a:srgbClr val="122923"/>
                </a:solidFill>
                <a:latin typeface="Georgia"/>
              </a:defRPr>
            </a:pPr>
            <a:r>
              <a:t>Covarianza, correlazione e concentrazione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353312"/>
            <a:ext cx="10863072" cy="0"/>
          </a:xfrm>
          <a:prstGeom prst="line">
            <a:avLst/>
          </a:prstGeom>
          <a:ln w="127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7395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 i="0">
                <a:solidFill>
                  <a:srgbClr val="60706B"/>
                </a:solidFill>
                <a:latin typeface="Arial"/>
              </a:defRPr>
            </a:pPr>
            <a:r>
              <a:t>Fonte: docs/METHODOLOGY_AND_RESULTS.md · docs/DSS_MODEL.md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19088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800" b="0" i="0">
                <a:solidFill>
                  <a:srgbClr val="60706B"/>
                </a:solidFill>
                <a:latin typeface="Arial"/>
              </a:defRPr>
            </a:pPr>
            <a:r>
              <a:t>A2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36776"/>
            <a:ext cx="5349240" cy="868680"/>
          </a:xfrm>
          <a:prstGeom prst="roundRect">
            <a:avLst/>
          </a:prstGeom>
          <a:solidFill>
            <a:srgbClr val="DDEBE5"/>
          </a:solidFill>
          <a:ln w="12700">
            <a:solidFill>
              <a:srgbClr val="DD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682496"/>
            <a:ext cx="5129783" cy="7772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2000" b="0" i="0">
                <a:solidFill>
                  <a:srgbClr val="122923"/>
                </a:solidFill>
                <a:latin typeface="Cambria Math"/>
              </a:defRPr>
            </a:pPr>
            <a:r>
              <a:t>covᵢⱼ = [Σₜ(rᵢ,ₜ−r̄ᵢ)(rⱼ,ₜ−r̄ⱼ)] / (T−1)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636776"/>
            <a:ext cx="5074920" cy="868680"/>
          </a:xfrm>
          <a:prstGeom prst="roundRect">
            <a:avLst/>
          </a:prstGeom>
          <a:solidFill>
            <a:srgbClr val="DDEBE5"/>
          </a:solidFill>
          <a:ln w="12700">
            <a:solidFill>
              <a:srgbClr val="DD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8" y="1682496"/>
            <a:ext cx="4855464" cy="7772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2200" b="0" i="0">
                <a:solidFill>
                  <a:srgbClr val="122923"/>
                </a:solidFill>
                <a:latin typeface="Cambria Math"/>
              </a:defRPr>
            </a:pPr>
            <a:r>
              <a:t>ρᵢⱼ = covᵢⱼ / (σᵢσⱼ)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3154679"/>
            <a:ext cx="4306824" cy="7315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2500" b="0" i="0">
                <a:solidFill>
                  <a:srgbClr val="122923"/>
                </a:solidFill>
                <a:latin typeface="Cambria Math"/>
              </a:defRPr>
            </a:pPr>
            <a:r>
              <a:t>HHI = Σᵢ xᵢ²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3408" y="3154679"/>
            <a:ext cx="4306824" cy="7315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0">
                <a:solidFill>
                  <a:srgbClr val="122D27"/>
                </a:solidFill>
                <a:latin typeface="Georgia"/>
              </a:rPr>
              <a:t>Nₑff = 1 / HHI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35424"/>
            <a:ext cx="9966960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700" b="0" i="0">
                <a:solidFill>
                  <a:srgbClr val="122923"/>
                </a:solidFill>
                <a:latin typeface="Georgia"/>
              </a:defRPr>
            </a:pPr>
            <a:r>
              <a:t>La correlazione normalizza il co-movimento tra −1 e 1. L’HHI cresce quando il capitale si concentra in pochi titoli; il suo inverso esprime un numero effettivo di posizioni equivalenti.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59436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 i="0">
                <a:solidFill>
                  <a:srgbClr val="0F5B4C"/>
                </a:solidFill>
                <a:latin typeface="Arial"/>
              </a:defRPr>
            </a:pPr>
            <a:r>
              <a:t>APPENDICE MATEMATICA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4420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800" b="0" i="0">
                <a:solidFill>
                  <a:srgbClr val="122923"/>
                </a:solidFill>
                <a:latin typeface="Georgia"/>
              </a:defRPr>
            </a:pPr>
            <a:r>
              <a:t>Contributi di Eulero al rischio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353312"/>
            <a:ext cx="10863072" cy="0"/>
          </a:xfrm>
          <a:prstGeom prst="line">
            <a:avLst/>
          </a:prstGeom>
          <a:ln w="127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7395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 i="0">
                <a:solidFill>
                  <a:srgbClr val="60706B"/>
                </a:solidFill>
                <a:latin typeface="Arial"/>
              </a:defRPr>
            </a:pPr>
            <a:r>
              <a:t>Fonte: ADR 0014 · docs/METHODOLOGY_AND_RESULTS.md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19088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800" b="0" i="0">
                <a:solidFill>
                  <a:srgbClr val="60706B"/>
                </a:solidFill>
                <a:latin typeface="Arial"/>
              </a:defRPr>
            </a:pPr>
            <a:r>
              <a:t>A3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673352"/>
            <a:ext cx="5074920" cy="914400"/>
          </a:xfrm>
          <a:prstGeom prst="roundRect">
            <a:avLst/>
          </a:prstGeom>
          <a:solidFill>
            <a:srgbClr val="DDEBE5"/>
          </a:solidFill>
          <a:ln w="12700">
            <a:solidFill>
              <a:srgbClr val="DD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719072"/>
            <a:ext cx="4855464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2900" b="0" i="0">
                <a:solidFill>
                  <a:srgbClr val="122923"/>
                </a:solidFill>
                <a:latin typeface="Cambria Math"/>
              </a:defRPr>
            </a:pPr>
            <a:r>
              <a:t>cᵢ = xᵢ(Σx)ᵢ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6792" y="1673352"/>
            <a:ext cx="5074920" cy="914400"/>
          </a:xfrm>
          <a:prstGeom prst="roundRect">
            <a:avLst/>
          </a:prstGeom>
          <a:solidFill>
            <a:srgbClr val="DDEBE5"/>
          </a:solidFill>
          <a:ln w="12700">
            <a:solidFill>
              <a:srgbClr val="DD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19072"/>
            <a:ext cx="4855464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2900" b="0" i="0">
                <a:solidFill>
                  <a:srgbClr val="122923"/>
                </a:solidFill>
                <a:latin typeface="Cambria Math"/>
              </a:defRPr>
            </a:pPr>
            <a:r>
              <a:t>RCᵢ = cᵢ / (xᵀΣx)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090672"/>
            <a:ext cx="452628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500" b="0" i="0">
                <a:solidFill>
                  <a:srgbClr val="0F5B4C"/>
                </a:solidFill>
                <a:latin typeface="Cambria Math"/>
              </a:defRPr>
            </a:pPr>
            <a:r>
              <a:t>Σᵢ cᵢ = xᵀΣx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090672"/>
            <a:ext cx="452628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500" b="0" i="0">
                <a:solidFill>
                  <a:srgbClr val="0F5B4C"/>
                </a:solidFill>
                <a:latin typeface="Cambria Math"/>
              </a:defRPr>
            </a:pPr>
            <a:r>
              <a:t>Σᵢ RCᵢ =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4270248"/>
            <a:ext cx="100584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C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453128"/>
            <a:ext cx="941832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600" b="0" i="0">
                <a:solidFill>
                  <a:srgbClr val="122923"/>
                </a:solidFill>
                <a:latin typeface="Arial"/>
              </a:defRPr>
            </a:pPr>
            <a:r>
              <a:t>I contributi restano firmati. Un valore negativo non è un errore: indica che la covarianza dell’attività riduce la varianza complessiva. Con varianza quasi nulla, il sistema non inventa percentuali relative.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59436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 i="0">
                <a:solidFill>
                  <a:srgbClr val="0F5B4C"/>
                </a:solidFill>
                <a:latin typeface="Arial"/>
              </a:defRPr>
            </a:pPr>
            <a:r>
              <a:t>APPENDICE MATEMATICA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4420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800" b="0" i="0">
                <a:solidFill>
                  <a:srgbClr val="122923"/>
                </a:solidFill>
                <a:latin typeface="Georgia"/>
              </a:defRPr>
            </a:pPr>
            <a:r>
              <a:t>Monte Carlo: modello e lettura degli esiti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353312"/>
            <a:ext cx="10863072" cy="0"/>
          </a:xfrm>
          <a:prstGeom prst="line">
            <a:avLst/>
          </a:prstGeom>
          <a:ln w="127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7395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 i="0">
                <a:solidFill>
                  <a:srgbClr val="60706B"/>
                </a:solidFill>
                <a:latin typeface="Arial"/>
              </a:defRPr>
            </a:pPr>
            <a:r>
              <a:t>Fonte: ADR 0011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19088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800" b="0" i="0">
                <a:solidFill>
                  <a:srgbClr val="60706B"/>
                </a:solidFill>
                <a:latin typeface="Arial"/>
              </a:defRPr>
            </a:pPr>
            <a:r>
              <a:t>A4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636776"/>
            <a:ext cx="10698480" cy="932688"/>
          </a:xfrm>
          <a:prstGeom prst="roundRect">
            <a:avLst/>
          </a:prstGeom>
          <a:solidFill>
            <a:srgbClr val="DDEBE5"/>
          </a:solidFill>
          <a:ln w="12700">
            <a:solidFill>
              <a:srgbClr val="DDE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682496"/>
            <a:ext cx="10479024" cy="8412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defRPr sz="2500" b="0" i="0">
                <a:solidFill>
                  <a:srgbClr val="122923"/>
                </a:solidFill>
                <a:latin typeface="Cambria Math"/>
              </a:defRPr>
            </a:pPr>
            <a:r>
              <a:t>V(t+Δt) = V(t) exp[(μ−σ²/2)Δt + σ√Δt Z]</a:t>
            </a:r>
          </a:p>
        </p:txBody>
      </p:sp>
      <p:sp>
        <p:nvSpPr>
          <p:cNvPr id="9" name="Oval 8"/>
          <p:cNvSpPr/>
          <p:nvPr/>
        </p:nvSpPr>
        <p:spPr>
          <a:xfrm>
            <a:off x="960120" y="2971800"/>
            <a:ext cx="91440" cy="91440"/>
          </a:xfrm>
          <a:prstGeom prst="ellipse">
            <a:avLst/>
          </a:prstGeom>
          <a:solidFill>
            <a:srgbClr val="0F5B4C"/>
          </a:solidFill>
          <a:ln>
            <a:solidFill>
              <a:srgbClr val="0F5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852928"/>
            <a:ext cx="9966960" cy="5577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defRPr sz="1700" b="0" i="0">
                <a:solidFill>
                  <a:srgbClr val="122923"/>
                </a:solidFill>
                <a:latin typeface="Arial"/>
              </a:defRPr>
            </a:pPr>
            <a:r>
              <a:t>Δt = 1/12 anno; pesi mantenuti costanti e ribilanciamento continuo idealizzato.</a:t>
            </a:r>
          </a:p>
        </p:txBody>
      </p:sp>
      <p:sp>
        <p:nvSpPr>
          <p:cNvPr id="11" name="Oval 10"/>
          <p:cNvSpPr/>
          <p:nvPr/>
        </p:nvSpPr>
        <p:spPr>
          <a:xfrm>
            <a:off x="960120" y="3639312"/>
            <a:ext cx="91440" cy="91440"/>
          </a:xfrm>
          <a:prstGeom prst="ellipse">
            <a:avLst/>
          </a:prstGeom>
          <a:solidFill>
            <a:srgbClr val="0F5B4C"/>
          </a:solidFill>
          <a:ln>
            <a:solidFill>
              <a:srgbClr val="0F5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520440"/>
            <a:ext cx="9966960" cy="5577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defRPr sz="1700" b="0" i="0">
                <a:solidFill>
                  <a:srgbClr val="122923"/>
                </a:solidFill>
                <a:latin typeface="Arial"/>
              </a:defRPr>
            </a:pPr>
            <a:r>
              <a:t>P5, P25, P50, P75 e P95 sono percentili empirici dei valori simulati.</a:t>
            </a:r>
          </a:p>
        </p:txBody>
      </p:sp>
      <p:sp>
        <p:nvSpPr>
          <p:cNvPr id="13" name="Oval 12"/>
          <p:cNvSpPr/>
          <p:nvPr/>
        </p:nvSpPr>
        <p:spPr>
          <a:xfrm>
            <a:off x="960120" y="4306824"/>
            <a:ext cx="91440" cy="91440"/>
          </a:xfrm>
          <a:prstGeom prst="ellipse">
            <a:avLst/>
          </a:prstGeom>
          <a:solidFill>
            <a:srgbClr val="0F5B4C"/>
          </a:solidFill>
          <a:ln>
            <a:solidFill>
              <a:srgbClr val="0F5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187952"/>
            <a:ext cx="9966960" cy="5577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defRPr sz="1700" b="0" i="0">
                <a:solidFill>
                  <a:srgbClr val="122923"/>
                </a:solidFill>
                <a:latin typeface="Arial"/>
              </a:defRPr>
            </a:pPr>
            <a:r>
              <a:t>Probabilità di perdita = quota di percorsi con valore terminale inferiore al capitale iniziale nominale.</a:t>
            </a:r>
          </a:p>
        </p:txBody>
      </p:sp>
      <p:sp>
        <p:nvSpPr>
          <p:cNvPr id="15" name="Oval 14"/>
          <p:cNvSpPr/>
          <p:nvPr/>
        </p:nvSpPr>
        <p:spPr>
          <a:xfrm>
            <a:off x="960120" y="4974336"/>
            <a:ext cx="91440" cy="91440"/>
          </a:xfrm>
          <a:prstGeom prst="ellipse">
            <a:avLst/>
          </a:prstGeom>
          <a:solidFill>
            <a:srgbClr val="0F5B4C"/>
          </a:solidFill>
          <a:ln>
            <a:solidFill>
              <a:srgbClr val="0F5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4855464"/>
            <a:ext cx="9966960" cy="5577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defRPr sz="1700" b="0" i="0">
                <a:solidFill>
                  <a:srgbClr val="122923"/>
                </a:solidFill>
                <a:latin typeface="Arial"/>
              </a:defRPr>
            </a:pPr>
            <a:r>
              <a:t>I parametri restano costanti; non sono modellati costi, tasse, inflazione, cambi di regime o incertezza di stima.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59436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 i="0">
                <a:solidFill>
                  <a:srgbClr val="0F5B4C"/>
                </a:solidFill>
                <a:latin typeface="Arial"/>
              </a:defRPr>
            </a:pPr>
            <a:r>
              <a:t>APPENDICE MATEMATICA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74420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800" b="0" i="0">
                <a:solidFill>
                  <a:srgbClr val="122923"/>
                </a:solidFill>
                <a:latin typeface="Georgia"/>
              </a:defRPr>
            </a:pPr>
            <a:r>
              <a:t>Backtest walk-forward: risultati congelati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353312"/>
            <a:ext cx="10863072" cy="0"/>
          </a:xfrm>
          <a:prstGeom prst="line">
            <a:avLst/>
          </a:prstGeom>
          <a:ln w="12700">
            <a:solidFill>
              <a:srgbClr val="E7EC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7395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 i="0">
                <a:solidFill>
                  <a:srgbClr val="60706B"/>
                </a:solidFill>
                <a:latin typeface="Arial"/>
              </a:defRPr>
            </a:pPr>
            <a:r>
              <a:t>Fonte: Week 9 frozen report · eada8c9d… · docs/METHODOLOGY_AND_RESULTS.md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19088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800" b="0" i="0">
                <a:solidFill>
                  <a:srgbClr val="60706B"/>
                </a:solidFill>
                <a:latin typeface="Arial"/>
              </a:defRPr>
            </a:pPr>
            <a:r>
              <a:t>A5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572768"/>
          <a:ext cx="10469878" cy="4370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1920240"/>
                <a:gridCol w="1874519"/>
                <a:gridCol w="1874519"/>
                <a:gridCol w="1920240"/>
              </a:tblGrid>
              <a:tr h="62440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Strategia</a:t>
                      </a:r>
                    </a:p>
                  </a:txBody>
                  <a:tcPr>
                    <a:solidFill>
                      <a:srgbClr val="0F5B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Valore finale USD</a:t>
                      </a:r>
                    </a:p>
                  </a:txBody>
                  <a:tcPr>
                    <a:solidFill>
                      <a:srgbClr val="0F5B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Rendimento annuo</a:t>
                      </a:r>
                    </a:p>
                  </a:txBody>
                  <a:tcPr>
                    <a:solidFill>
                      <a:srgbClr val="0F5B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Volatilità annua</a:t>
                      </a:r>
                    </a:p>
                  </a:txBody>
                  <a:tcPr>
                    <a:solidFill>
                      <a:srgbClr val="0F5B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Max drawdown</a:t>
                      </a:r>
                    </a:p>
                  </a:txBody>
                  <a:tcPr>
                    <a:solidFill>
                      <a:srgbClr val="0F5B4C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Media storica · rolling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41,945.23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22.80%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22.24%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31.78%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Media esponenziale · rolling</a:t>
                      </a:r>
                    </a:p>
                  </a:txBody>
                  <a:tcPr marL="64008" marR="64008" marT="36576" marB="36576">
                    <a:solidFill>
                      <a:srgbClr val="DDEB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39,766.54</a:t>
                      </a:r>
                    </a:p>
                  </a:txBody>
                  <a:tcPr marL="64008" marR="64008" marT="36576" marB="36576">
                    <a:solidFill>
                      <a:srgbClr val="DDEB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21.87%</a:t>
                      </a:r>
                    </a:p>
                  </a:txBody>
                  <a:tcPr marL="64008" marR="64008" marT="36576" marB="36576">
                    <a:solidFill>
                      <a:srgbClr val="DDEB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21.34%</a:t>
                      </a:r>
                    </a:p>
                  </a:txBody>
                  <a:tcPr marL="64008" marR="64008" marT="36576" marB="36576">
                    <a:solidFill>
                      <a:srgbClr val="DDEB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28.45%</a:t>
                      </a:r>
                    </a:p>
                  </a:txBody>
                  <a:tcPr marL="64008" marR="64008" marT="36576" marB="36576">
                    <a:solidFill>
                      <a:srgbClr val="DDEBE5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Media storica · expanding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38,264.57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21.20%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22.51%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30.32%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Media esponenziale · expanding</a:t>
                      </a:r>
                    </a:p>
                  </a:txBody>
                  <a:tcPr marL="64008" marR="64008" marT="36576" marB="36576">
                    <a:solidFill>
                      <a:srgbClr val="DDEB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41,208.38</a:t>
                      </a:r>
                    </a:p>
                  </a:txBody>
                  <a:tcPr marL="64008" marR="64008" marT="36576" marB="36576">
                    <a:solidFill>
                      <a:srgbClr val="DDEB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22.49%</a:t>
                      </a:r>
                    </a:p>
                  </a:txBody>
                  <a:tcPr marL="64008" marR="64008" marT="36576" marB="36576">
                    <a:solidFill>
                      <a:srgbClr val="DDEB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21.42%</a:t>
                      </a:r>
                    </a:p>
                  </a:txBody>
                  <a:tcPr marL="64008" marR="64008" marT="36576" marB="36576">
                    <a:solidFill>
                      <a:srgbClr val="DDEB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28.45%</a:t>
                      </a:r>
                    </a:p>
                  </a:txBody>
                  <a:tcPr marL="64008" marR="64008" marT="36576" marB="36576">
                    <a:solidFill>
                      <a:srgbClr val="DDEBE5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Pesi uguali · periodico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42,151.10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22.89%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20.16%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35.25%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624408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SPY proxy · buy and hold</a:t>
                      </a:r>
                    </a:p>
                  </a:txBody>
                  <a:tcPr marL="64008" marR="64008" marT="36576" marB="36576">
                    <a:solidFill>
                      <a:srgbClr val="DDEB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30,308.19</a:t>
                      </a:r>
                    </a:p>
                  </a:txBody>
                  <a:tcPr marL="64008" marR="64008" marT="36576" marB="36576">
                    <a:solidFill>
                      <a:srgbClr val="DDEB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17.22%</a:t>
                      </a:r>
                    </a:p>
                  </a:txBody>
                  <a:tcPr marL="64008" marR="64008" marT="36576" marB="36576">
                    <a:solidFill>
                      <a:srgbClr val="DDEB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19.78%</a:t>
                      </a:r>
                    </a:p>
                  </a:txBody>
                  <a:tcPr marL="64008" marR="64008" marT="36576" marB="36576">
                    <a:solidFill>
                      <a:srgbClr val="DDEB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22923"/>
                          </a:solidFill>
                          <a:latin typeface="Arial"/>
                        </a:defRPr>
                      </a:pPr>
                      <a:r>
                        <a:t>33.72%</a:t>
                      </a:r>
                    </a:p>
                  </a:txBody>
                  <a:tcPr marL="64008" marR="64008" marT="36576" marB="36576">
                    <a:solidFill>
                      <a:srgbClr val="DDEBE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6016752"/>
            <a:ext cx="10561320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617370"/>
                </a:solidFill>
                <a:latin typeface="Arial"/>
              </a:rPr>
              <a:t>Rendimento annualizzato: exp[(252/N)·ln(Vₜ/V₀)] − 1.  Volatilità: s(rₜ)·√252.  Maximum drawdown: massima perdita rispetto al precedente massimo del capitale.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Portfolio DSS: teoria di portafoglio e supporto decisionale</dc:title>
  <dc:subject>Presentazione finale Phase B</dc:subject>
  <dc:creator>Portfolio DSS</dc:creator>
  <cp:keywords>DSS, portfolio, mean-variance, efficient frontier, uncertainty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
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dad1e484c048cb" /><Relationship Type="http://schemas.openxmlformats.org/officeDocument/2006/relationships/extended-properties" Target="/docProps/app.xml" Id="Rf287f5a857ec4227" /><Relationship Type="http://schemas.openxmlformats.org/officeDocument/2006/relationships/officeDocument" Target="/ppt/presentation.xml" Id="R84f78a0e14fa4b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5c5f99cc1a4433"/>
  </p:sldMasterIdLst>
  <p:notesMasterIdLst>
    <p:notesMasterId xmlns:r="http://schemas.openxmlformats.org/officeDocument/2006/relationships" r:id="R92f62627770c44c0"/>
  </p:notesMasterIdLst>
  <p:sldIdLst>
    <p:sldId xmlns:r="http://schemas.openxmlformats.org/officeDocument/2006/relationships" id="256" r:id="R5c27256d818e4127"/>
    <p:sldId xmlns:r="http://schemas.openxmlformats.org/officeDocument/2006/relationships" id="257" r:id="R78b8aae31eaf4940"/>
    <p:sldId xmlns:r="http://schemas.openxmlformats.org/officeDocument/2006/relationships" id="258" r:id="R3bff037c3c2345d7"/>
    <p:sldId xmlns:r="http://schemas.openxmlformats.org/officeDocument/2006/relationships" id="259" r:id="R995a70e7ade04c58"/>
    <p:sldId xmlns:r="http://schemas.openxmlformats.org/officeDocument/2006/relationships" id="260" r:id="Rf1e3196f02e045f9"/>
    <p:sldId xmlns:r="http://schemas.openxmlformats.org/officeDocument/2006/relationships" id="261" r:id="R4f7771f3221e4338"/>
    <p:sldId xmlns:r="http://schemas.openxmlformats.org/officeDocument/2006/relationships" id="262" r:id="Rfe447e5ba9b54951"/>
    <p:sldId xmlns:r="http://schemas.openxmlformats.org/officeDocument/2006/relationships" id="263" r:id="R87e9e75e43744838"/>
    <p:sldId xmlns:r="http://schemas.openxmlformats.org/officeDocument/2006/relationships" id="264" r:id="Ra30886418a8c4065"/>
    <p:sldId xmlns:r="http://schemas.openxmlformats.org/officeDocument/2006/relationships" id="265" r:id="Rdc93276a9e954206"/>
    <p:sldId xmlns:r="http://schemas.openxmlformats.org/officeDocument/2006/relationships" id="266" r:id="R77ec2352b27d41ff"/>
    <p:sldId xmlns:r="http://schemas.openxmlformats.org/officeDocument/2006/relationships" id="267" r:id="R8c00f5bb471346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a695d226ba42c2" /><Relationship Type="http://schemas.openxmlformats.org/officeDocument/2006/relationships/slideMaster" Target="/ppt/slideMasters/slideMaster1.xml" Id="R0b5c5f99cc1a4433" /><Relationship Type="http://schemas.openxmlformats.org/officeDocument/2006/relationships/notesMaster" Target="/ppt/notesMasters/notesMaster1.xml" Id="R92f62627770c44c0" /><Relationship Type="http://schemas.openxmlformats.org/officeDocument/2006/relationships/presProps" Target="/ppt/presProps.xml" Id="R166b699c8d534a65" /><Relationship Type="http://schemas.openxmlformats.org/officeDocument/2006/relationships/tableStyles" Target="/ppt/tableStyles.xml" Id="Rb11a05d1336e411a" /><Relationship Type="http://schemas.openxmlformats.org/officeDocument/2006/relationships/slide" Target="/ppt/slides/slide1.xml" Id="R5c27256d818e4127" /><Relationship Type="http://schemas.openxmlformats.org/officeDocument/2006/relationships/slide" Target="/ppt/slides/slide2.xml" Id="R78b8aae31eaf4940" /><Relationship Type="http://schemas.openxmlformats.org/officeDocument/2006/relationships/slide" Target="/ppt/slides/slide3.xml" Id="R3bff037c3c2345d7" /><Relationship Type="http://schemas.openxmlformats.org/officeDocument/2006/relationships/slide" Target="/ppt/slides/slide4.xml" Id="R995a70e7ade04c58" /><Relationship Type="http://schemas.openxmlformats.org/officeDocument/2006/relationships/slide" Target="/ppt/slides/slide5.xml" Id="Rf1e3196f02e045f9" /><Relationship Type="http://schemas.openxmlformats.org/officeDocument/2006/relationships/slide" Target="/ppt/slides/slide6.xml" Id="R4f7771f3221e4338" /><Relationship Type="http://schemas.openxmlformats.org/officeDocument/2006/relationships/slide" Target="/ppt/slides/slide7.xml" Id="Rfe447e5ba9b54951" /><Relationship Type="http://schemas.openxmlformats.org/officeDocument/2006/relationships/slide" Target="/ppt/slides/slide8.xml" Id="R87e9e75e43744838" /><Relationship Type="http://schemas.openxmlformats.org/officeDocument/2006/relationships/slide" Target="/ppt/slides/slide9.xml" Id="Ra30886418a8c4065" /><Relationship Type="http://schemas.openxmlformats.org/officeDocument/2006/relationships/slide" Target="/ppt/slides/slide10.xml" Id="Rdc93276a9e954206" /><Relationship Type="http://schemas.openxmlformats.org/officeDocument/2006/relationships/slide" Target="/ppt/slides/slide11.xml" Id="R77ec2352b27d41ff" /><Relationship Type="http://schemas.openxmlformats.org/officeDocument/2006/relationships/slide" Target="/ppt/slides/slide12.xml" Id="R8c00f5bb471346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484bd6917140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37fe94837a498f" /><Relationship Type="http://schemas.openxmlformats.org/officeDocument/2006/relationships/notesMaster" Target="/ppt/notesMasters/notesMaster1.xml" Id="Rf07dc31ae0a045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acf22b8a5a4639" /><Relationship Type="http://schemas.openxmlformats.org/officeDocument/2006/relationships/notesMaster" Target="/ppt/notesMasters/notesMaster1.xml" Id="R23aecb9105e542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0434c960544102" /><Relationship Type="http://schemas.openxmlformats.org/officeDocument/2006/relationships/notesMaster" Target="/ppt/notesMasters/notesMaster1.xml" Id="Rf1a3dde6fd2846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50b3665dc64f6b" /><Relationship Type="http://schemas.openxmlformats.org/officeDocument/2006/relationships/notesMaster" Target="/ppt/notesMasters/notesMaster1.xml" Id="R1803f0cdb92c4f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819dee409c490d" /><Relationship Type="http://schemas.openxmlformats.org/officeDocument/2006/relationships/notesMaster" Target="/ppt/notesMasters/notesMaster1.xml" Id="R3d9de0e5183346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111e12b6184586" /><Relationship Type="http://schemas.openxmlformats.org/officeDocument/2006/relationships/notesMaster" Target="/ppt/notesMasters/notesMaster1.xml" Id="Rba9d3d57bb654d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3c2111dabf4f09" /><Relationship Type="http://schemas.openxmlformats.org/officeDocument/2006/relationships/notesMaster" Target="/ppt/notesMasters/notesMaster1.xml" Id="R26b0dfb9cd0d4d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d4a84a44e0451c" /><Relationship Type="http://schemas.openxmlformats.org/officeDocument/2006/relationships/notesMaster" Target="/ppt/notesMasters/notesMaster1.xml" Id="Ra8fb87eb3b4743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2161fbb17c44ee" /><Relationship Type="http://schemas.openxmlformats.org/officeDocument/2006/relationships/notesMaster" Target="/ppt/notesMasters/notesMaster1.xml" Id="R3d741e9830af4b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2d635ae00f494a" /><Relationship Type="http://schemas.openxmlformats.org/officeDocument/2006/relationships/notesMaster" Target="/ppt/notesMasters/notesMaster1.xml" Id="R0c53ffeb1c2744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d807936cbb409f" /><Relationship Type="http://schemas.openxmlformats.org/officeDocument/2006/relationships/notesMaster" Target="/ppt/notesMasters/notesMaster1.xml" Id="R797dcbfa98a846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c09d2f89ff3451e" /><Relationship Type="http://schemas.openxmlformats.org/officeDocument/2006/relationships/notesMaster" Target="/ppt/notesMasters/notesMaster1.xml" Id="Rf3472a8aa7844d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0:00–0:35. Presentare il sistema come supporto alla decisione. Fonte: README.md e docs/PRODUCT.md.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0:35–1:25. Delimitare Phase B e distinguere il DSS da trading automatico e consulenza regolamentata.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1:25–2:15. Spiegare i due ingressi e il contratto comune dei risultati.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2:15–3:15. Evidenziare la direzione delle dipendenze e la composizione offline.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3:15–4:25. Collegare la formulazione della professoressa alle convenzioni implementate.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4:25–5:15. Spiegare la mappatura 20/50/80 e le ragioni basate su fatti. Fonte: ADR 0009 e ADR 0014.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5:15–6:15. Separare simulazione condizionata ed evidenza fuori campione.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6:15–7:25. Leggere i risultati senza dichiarare un vincitore universale. Valori dal JSON congelato Week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7:25–8:10. Citare test, build, report hash e avvio offline. Poi passare alla demo live.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13:10–15:00. Collegare ogni sviluppo a un limite documentato e chiudere sul contributo del DSS.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Appendice per domande tecniche sui protocolli, sui DTO e sulle estensioni future.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Appendice per domande sull’interpretazione dei risultati e sui non-obiettivi di Phase 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542cfa7b3d46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996b6f5a0049e6" /><Relationship Type="http://schemas.openxmlformats.org/officeDocument/2006/relationships/slideLayout" Target="/ppt/slideLayouts/slideLayout1.xml" Id="R9764db34ea1647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64db34ea1647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da812f4194daf" /><Relationship Type="http://schemas.openxmlformats.org/officeDocument/2006/relationships/notesSlide" Target="/ppt/notesSlides/notesSlide1.xml" Id="Ra4ff9d9248a04d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d27be21c04387" /><Relationship Type="http://schemas.openxmlformats.org/officeDocument/2006/relationships/notesSlide" Target="/ppt/notesSlides/notesSlide2.xml" Id="R89df0eec83894b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e789ea44340dc" /><Relationship Type="http://schemas.openxmlformats.org/officeDocument/2006/relationships/notesSlide" Target="/ppt/notesSlides/notesSlide3.xml" Id="R66d99a10bbc84c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8a98b2e5a4ea5" /><Relationship Type="http://schemas.openxmlformats.org/officeDocument/2006/relationships/notesSlide" Target="/ppt/notesSlides/notesSlide4.xml" Id="R5bb7b76f69aa42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02e1e4b28436a" /><Relationship Type="http://schemas.openxmlformats.org/officeDocument/2006/relationships/notesSlide" Target="/ppt/notesSlides/notesSlide5.xml" Id="Rc726fd7ceadc4c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820d97e284f02" /><Relationship Type="http://schemas.openxmlformats.org/officeDocument/2006/relationships/image" Target="/ppt/media/image.png" Id="Rba6b79aba4114164" /><Relationship Type="http://schemas.openxmlformats.org/officeDocument/2006/relationships/notesSlide" Target="/ppt/notesSlides/notesSlide6.xml" Id="Ra213a26b931640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9e1e7af264c98" /><Relationship Type="http://schemas.openxmlformats.org/officeDocument/2006/relationships/image" Target="/ppt/media/image2.png" Id="Rce272cd74b4c4f0b" /><Relationship Type="http://schemas.openxmlformats.org/officeDocument/2006/relationships/notesSlide" Target="/ppt/notesSlides/notesSlide7.xml" Id="R64d237d82a2a40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b4fbb7f0a4d2a" /><Relationship Type="http://schemas.openxmlformats.org/officeDocument/2006/relationships/chart" Target="/ppt/slides/charts/chart1.xml" Id="Rfc8dc4fe6d204231" /><Relationship Type="http://schemas.openxmlformats.org/officeDocument/2006/relationships/notesSlide" Target="/ppt/notesSlides/notesSlide8.xml" Id="R1aad563421ea4a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1ecb0c5d940c3" /><Relationship Type="http://schemas.openxmlformats.org/officeDocument/2006/relationships/image" Target="/ppt/media/image3.png" Id="R2ee5c2efbde94882" /><Relationship Type="http://schemas.openxmlformats.org/officeDocument/2006/relationships/notesSlide" Target="/ppt/notesSlides/notesSlide9.xml" Id="R74b0db080d4e46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70fdfd76b4b10" /><Relationship Type="http://schemas.openxmlformats.org/officeDocument/2006/relationships/notesSlide" Target="/ppt/notesSlides/notesSlide10.xml" Id="Rab11f3edca7e4a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64cd69aba46db" /><Relationship Type="http://schemas.openxmlformats.org/officeDocument/2006/relationships/notesSlide" Target="/ppt/notesSlides/notesSlide11.xml" Id="R2d314ee79b7942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bdb03b43c49b5" /><Relationship Type="http://schemas.openxmlformats.org/officeDocument/2006/relationships/notesSlide" Target="/ppt/notesSlides/notesSlide12.xml" Id="R151b8eb7cdae449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Valore terminale per strategia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17324D"/>
              </a:solidFill>
              <a:latin typeface="Aptos"/>
              <a:ea typeface="Aptos"/>
              <a:cs typeface="Aptos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Migliaia di USD</c:v>
          </c:tx>
          <c:spPr>
            <a:solidFill xmlns:a="http://schemas.openxmlformats.org/drawingml/2006/main">
              <a:srgbClr val="1F7A6A"/>
            </a:solidFill>
          </c:spPr>
          <c:cat>
            <c:strRef>
              <c:f>'Chart Data'!$A$2:$A$7</c:f>
              <c:strCache>
                <c:ptCount val="6"/>
                <c:pt idx="0">
                  <c:v>Storica rolling</c:v>
                </c:pt>
                <c:pt idx="1">
                  <c:v>Esponenziale rolling</c:v>
                </c:pt>
                <c:pt idx="2">
                  <c:v>Storica expanding</c:v>
                </c:pt>
                <c:pt idx="3">
                  <c:v>Esponenziale expanding</c:v>
                </c:pt>
                <c:pt idx="4">
                  <c:v>Pesi uguali</c:v>
                </c:pt>
                <c:pt idx="5">
                  <c:v>SPY proxy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41.945</c:v>
                </c:pt>
                <c:pt idx="1">
                  <c:v>39.767</c:v>
                </c:pt>
                <c:pt idx="2">
                  <c:v>38.265</c:v>
                </c:pt>
                <c:pt idx="3">
                  <c:v>41.208</c:v>
                </c:pt>
                <c:pt idx="4">
                  <c:v>42.151</c:v>
                </c:pt>
                <c:pt idx="5">
                  <c:v>30.308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324D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Valore terminale, migliaia di USD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D"/>
        </a:solidFill>
        <a:ln xmlns:a="http://schemas.openxmlformats.org/drawingml/2006/main" w="9525">
          <a:solidFill>
            <a:srgbClr val="E7ECE9"/>
          </a:solidFill>
        </a:ln>
      </c:spPr>
    </c:plotArea>
    <c:plotVisOnly val="1"/>
  </c:chart>
  <c:spPr>
    <a:solidFill xmlns:a="http://schemas.openxmlformats.org/drawingml/2006/main">
      <a:srgbClr val="F7F4ED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D3CF41-AC18-414B-A441-28BCA5EE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09642-EDFA-4B77-9ABF-CC0EB072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91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8D5C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A8D5C8"/>
                </a:solidFill>
                <a:latin typeface="Aptos"/>
                <a:ea typeface="Aptos"/>
                <a:cs typeface="Aptos"/>
              </a:rPr>
              <a:t>PORTFOLIO DSS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1CFB8-301A-42B1-825B-BEE1FB08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857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Decisioni di portafoglio</a:t>
            </a:r>
          </a:p>
          <a:p xmlns:a="http://schemas.openxmlformats.org/drawingml/2006/main">
            <a:pPr algn="l">
              <a:defRPr sz="4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più comprensibili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24AE8-B511-4A68-86FD-BB68879C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CE7E4"/>
                </a:solidFill>
                <a:latin typeface="Aptos"/>
                <a:ea typeface="Aptos"/>
                <a:cs typeface="Aptos"/>
              </a:defRPr>
            </a:pPr>
            <a:r>
              <a:rPr sz="2175" b="0" i="0">
                <a:solidFill>
                  <a:srgbClr val="DCE7E4"/>
                </a:solidFill>
                <a:latin typeface="Aptos"/>
                <a:ea typeface="Aptos"/>
                <a:cs typeface="Aptos"/>
              </a:rPr>
              <a:t>Rendimento, rischio e incertezza resi confrontabili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1967E-4557-4DE6-BA57-B02758A6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24375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F3263-42EA-49D0-8386-4359CAD1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C4D4CF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C4D4CF"/>
                </a:solidFill>
                <a:latin typeface="Aptos"/>
                <a:ea typeface="Aptos"/>
                <a:cs typeface="Aptos"/>
              </a:rPr>
              <a:t>Presentazione finale · Phase 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D17A1-E072-47A5-9987-6F4494B1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91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1ADA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DA5"/>
                </a:solidFill>
                <a:latin typeface="Aptos"/>
                <a:ea typeface="Aptos"/>
                <a:cs typeface="Aptos"/>
              </a:rPr>
              <a:t>Decision support educativo</a:t>
            </a:r>
          </a:p>
        </p:txBody>
      </p:sp>
    </p:spTree>
    <p:extLst>
      <p:ext uri="{BB962C8B-B14F-4D97-AF65-F5344CB8AC3E}">
        <p14:creationId xmlns:p14="http://schemas.microsoft.com/office/powerpoint/2010/main" val="2578769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B4D1C9-825F-40CC-9789-8C2D88A3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OBIETTIVO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6AA8E-C551-42EA-8F95-A20BB10C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Problema e confine di Phase 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E7369-DF89-435D-B410-A448231F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51908-9528-46DA-96F7-86CB632F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Il portafoglio migliore dipende dal compromesso che l’utente accetta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8029E-04EF-49A2-B9AE-9D50D952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CE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7312B-F7C9-48A7-B4ED-7E90C024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DOMANDA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0C718-B8E4-4ECE-B2D9-FD35913E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2952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Quale alternativa rende visibile il rapporto tra rendimento atteso e rischio stimato?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6BC75-0912-472A-88A3-268F2AE4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7650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DEBE5"/>
          </a:solidFill>
          <a:ln xmlns:a="http://schemas.openxmlformats.org/drawingml/2006/main" w="9525">
            <a:solidFill>
              <a:srgbClr val="E7ECE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84B76-CBBE-4C5B-8FE7-37145660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479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PHASE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7CCFC-131F-4367-9988-2A94CB9F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71800"/>
            <a:ext cx="2952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Analisi, frontiera efficiente, guida alle preferenze, simulazione e valutazione fuori campione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97A0F9-8797-4325-9029-7661F801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CE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CB1EE-B31E-4F4C-9E3B-10EDA476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479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CONFINE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59154-A015-4310-B035-D5232DAA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71800"/>
            <a:ext cx="2952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Nessuna esecuzione, promessa di rendimento o suitability regolamentare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4F1F4-DFDF-4708-81D8-7A7C7A24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Il sistema presenta alternative e ipotesi. La decisione resta all’utente.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61883B-E0C0-48B2-B35E-D1E980DB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0706B"/>
                </a:solidFill>
                <a:latin typeface="Aptos"/>
                <a:ea typeface="Aptos"/>
                <a:cs typeface="Aptos"/>
              </a:rPr>
              <a:t>Fonti: docs/SCOPE.md · docs/LIMITATIONS.md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89125-3344-4D15-89D5-CDE262FC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0706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701716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32CEBB-1685-42CF-9587-E7F71D7B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ESPERIENZA UTENTE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6407F-5A9F-45CA-A3CF-0F0D8726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Due percorsi, un confronto comune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CC51E-A781-4E1B-8020-06DE4ED6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6548B-D5D5-41A4-B4CF-A680CEE6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714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CE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7A83D-7CE8-48E7-A7B6-CCEE5E59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PORTAFOGLIO ESISTENTE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6E829-43DD-4A1B-AC92-8A3B43AB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33337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Ticker e quantità</a:t>
            </a:r>
          </a:p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Analisi storica</a:t>
            </a:r>
          </a:p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Confronto con i pesi correnti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8FB74B-DFAF-4764-9470-05A29855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90700"/>
            <a:ext cx="3714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CE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99B7E-BA09-4A21-86A3-3E728C1D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621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COSTRUZIONE GUIDATA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2FA6C-6CFC-4E3E-A79C-789C9398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86000"/>
            <a:ext cx="33337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Tre preferenze</a:t>
            </a:r>
          </a:p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Capitale in USD</a:t>
            </a:r>
          </a:p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Profilo suggerito e importi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B22D47-9779-41D4-BD72-5C081B2A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571750"/>
            <a:ext cx="27241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DDEBE5"/>
          </a:solidFill>
          <a:ln xmlns:a="http://schemas.openxmlformats.org/drawingml/2006/main" w="9525">
            <a:solidFill>
              <a:srgbClr val="E7ECE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59584-F21C-421D-9865-B290FA63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74320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OUTPUT CONDIVISO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3A77D3-2828-4AC9-A0D3-FACF3FA1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067050"/>
            <a:ext cx="23431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Frontiera efficiente</a:t>
            </a:r>
          </a:p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Tre alternative</a:t>
            </a:r>
          </a:p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Spiegazioni e incertezza</a:t>
            </a:r>
          </a:p>
        </p:txBody>
      </p:sp>
      <p:cxnSp>
        <p:nvCxnSpPr>
          <p:cNvPr id="30" name=""/>
          <p:cNvCxnSpPr>
            <a:stCxn xmlns:a="http://schemas.openxmlformats.org/drawingml/2006/main" id="4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400550" y="3219450"/>
            <a:ext cx="333375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F7A6A"/>
            </a:solidFill>
            <a:headEnd type="arrow" w="med" len="med"/>
          </a:ln>
        </p:spPr>
      </p:cxnSp>
      <p:cxnSp>
        <p:nvCxnSpPr>
          <p:cNvPr id="31" name=""/>
          <p:cNvCxnSpPr>
            <a:stCxn xmlns:a="http://schemas.openxmlformats.org/drawingml/2006/main" id="7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7458075" y="3219450"/>
            <a:ext cx="333375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F7A6A"/>
            </a:solidFill>
            <a:head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21CE9D-DA76-4F70-A528-BF504540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34000"/>
            <a:ext cx="910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Benchmark comparabili sullo stesso intervallo e con le stesse convenzioni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26FA68-DBD3-4F25-B61A-1CC55076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0706B"/>
                </a:solidFill>
                <a:latin typeface="Aptos"/>
                <a:ea typeface="Aptos"/>
                <a:cs typeface="Aptos"/>
              </a:rPr>
              <a:t>Fonte: README.md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6E7CDE-5E06-4E4E-8FDE-84A6ADCB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0706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66093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9F08A6-C979-4AED-94C2-F18CECBE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SISTEMA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0EB78-DEFE-49BD-9652-F5CC30DB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Architettura modulare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6EB2E-C01C-449F-A257-9706F33C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BD3F8-7F07-4587-A506-56A13E21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905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CE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3E31F-6EEF-467F-A558-5AE33B7F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14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NEXT.JS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CF222-D278-4F86-BD07-677E3455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1524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Interfaccia e feature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81E3C-A6B9-4FD2-AF19-7B0A73BB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43125"/>
            <a:ext cx="1905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CE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039224-4E06-41E4-A92E-D180E0EE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14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22E058-43D5-4056-A9B5-46D22AFB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38425"/>
            <a:ext cx="1524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HTTP e DTO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5400C8-FEAD-440D-9240-8D96F652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43125"/>
            <a:ext cx="1905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DDEBE5"/>
          </a:solidFill>
          <a:ln xmlns:a="http://schemas.openxmlformats.org/drawingml/2006/main" w="9525">
            <a:solidFill>
              <a:srgbClr val="E7ECE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B1925-6695-4A5C-B0E0-24E273D7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14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8C521-27F3-488A-9750-D4987013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38425"/>
            <a:ext cx="1524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Orchestrazione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524D4F-AA0C-4EB2-91BE-DD07B0BB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43125"/>
            <a:ext cx="1905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DDEBE5"/>
          </a:solidFill>
          <a:ln xmlns:a="http://schemas.openxmlformats.org/drawingml/2006/main" w="9525">
            <a:solidFill>
              <a:srgbClr val="E7ECE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8A14C6-B57F-4B02-B70D-C9F07CC3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14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DOMAIN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73497B-2AEC-491A-867A-B78ACAD8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38425"/>
            <a:ext cx="1524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Calcoli e contratti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919F27-B435-4AED-BC3B-CC8BBE49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43125"/>
            <a:ext cx="1905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CE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1F479D-2776-4960-8E9C-CE249565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14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ADAPTERS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D9EF72-EE51-4C21-886E-39426FC8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38425"/>
            <a:ext cx="1524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Dati, solver e cache</a:t>
            </a:r>
          </a:p>
        </p:txBody>
      </p:sp>
      <p:cxnSp>
        <p:nvCxnSpPr>
          <p:cNvPr id="45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590800" y="2833688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F7A6A"/>
            </a:solidFill>
            <a:headEnd type="arrow" w="sm" len="sm"/>
          </a:ln>
        </p:spPr>
      </p:cxnSp>
      <p:cxnSp>
        <p:nvCxnSpPr>
          <p:cNvPr id="46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819650" y="2833688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F7A6A"/>
            </a:solidFill>
            <a:headEnd type="arrow" w="sm" len="sm"/>
          </a:ln>
        </p:spPr>
      </p:cxnSp>
      <p:cxnSp>
        <p:nvCxnSpPr>
          <p:cNvPr id="47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048500" y="2833688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F7A6A"/>
            </a:solidFill>
            <a:headEnd type="arrow" w="sm" len="sm"/>
          </a:ln>
        </p:spPr>
      </p:cxnSp>
      <p:cxnSp>
        <p:nvCxnSpPr>
          <p:cNvPr id="48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277350" y="2833688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F7A6A"/>
            </a:solidFill>
            <a:head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EF7898-F0C5-4CDE-9DD5-9FC57602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3380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Dipendenze verso l’interno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6A4B5F-A741-4E6C-A6D6-94D1B5DB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62450"/>
            <a:ext cx="88392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80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22923"/>
                </a:solidFill>
                <a:latin typeface="Aptos"/>
                <a:ea typeface="Aptos"/>
                <a:cs typeface="Aptos"/>
              </a:rPr>
              <a:t>Wikipedia e Yahoo Finance sono adapter di produzione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80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22923"/>
                </a:solidFill>
                <a:latin typeface="Aptos"/>
                <a:ea typeface="Aptos"/>
                <a:cs typeface="Aptos"/>
              </a:rPr>
              <a:t>SciPy, NumPy e SQLite restano fuori dal dominio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80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22923"/>
                </a:solidFill>
                <a:latin typeface="Aptos"/>
                <a:ea typeface="Aptos"/>
                <a:cs typeface="Aptos"/>
              </a:rPr>
              <a:t>La demo sostituisce solo gli adapter dati con fixture deterministiche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D5864F-2968-4752-A4C8-68A43BAB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0706B"/>
                </a:solidFill>
                <a:latin typeface="Aptos"/>
                <a:ea typeface="Aptos"/>
                <a:cs typeface="Aptos"/>
              </a:rPr>
              <a:t>Fonte: docs/ARCHITECTURE.md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07C502-76E8-4178-A46C-6FEB592D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0706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291297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E755EB-D012-4F67-9BE1-C7852171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MODELLO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2A70F-DBE5-4B05-9ED3-39303F90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Metodo e convenzioni finanziarie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582A3-800F-44E6-9547-8659B4D0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F1192-F51A-4236-A73A-724954F8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750" b="1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max  μᵀx − λxᵀΣx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B9F38-62B9-4478-B755-DF52720A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098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Σxᵢ = 1     xᵢ ≥ 0     xᵢ ≤ 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2BCF8-B45D-4AE5-8BE5-76013294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509587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725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22923"/>
                </a:solidFill>
                <a:latin typeface="Aptos"/>
                <a:ea typeface="Aptos"/>
                <a:cs typeface="Aptos"/>
              </a:rPr>
              <a:t>Media aritmetica storica o media esponenziale con half-life di 63 osservazioni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725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22923"/>
                </a:solidFill>
                <a:latin typeface="Aptos"/>
                <a:ea typeface="Aptos"/>
                <a:cs typeface="Aptos"/>
              </a:rPr>
              <a:t>Covarianza campionaria sugli stessi rendimenti allineati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725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22923"/>
                </a:solidFill>
                <a:latin typeface="Aptos"/>
                <a:ea typeface="Aptos"/>
                <a:cs typeface="Aptos"/>
              </a:rPr>
              <a:t>Prezzi adjusted close e rendimenti semplici giornalieri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725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22923"/>
                </a:solidFill>
                <a:latin typeface="Aptos"/>
                <a:ea typeface="Aptos"/>
                <a:cs typeface="Aptos"/>
              </a:rPr>
              <a:t>Annualizzazione esplicita su 252 periodi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F5AE1-BE6A-4B83-9860-F9AC7ADA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2381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CE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F7A6C-2C64-4F33-98FF-3D60528C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RENDIMENTO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4EF0D-164F-444C-BA53-5DE54FB3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05050"/>
            <a:ext cx="2000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Parametro stimato</a:t>
            </a:r>
          </a:p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Non coincide con il CAGR osservato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4FAEB8-221C-408C-8F36-EC519AB4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09750"/>
            <a:ext cx="2381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CE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A6BF1-8BE9-4E30-8BCB-12A77273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81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RISCHIO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47B98-ACF1-402C-9785-1106A7D4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05050"/>
            <a:ext cx="2000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Varianza e volatilità</a:t>
            </a:r>
          </a:p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Contributi di Eulero firmati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EFABF4-C4D6-47EC-BFC3-BED638E8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2381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DDEBE5"/>
          </a:solidFill>
          <a:ln xmlns:a="http://schemas.openxmlformats.org/drawingml/2006/main" w="9525">
            <a:solidFill>
              <a:srgbClr val="E7ECE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0B690C-33F8-411B-A277-FBF9761D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86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SOLVER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C35F4B-46A2-4B0F-95F2-91489A6A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10050"/>
            <a:ext cx="2000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SciPy SLSQP</a:t>
            </a:r>
          </a:p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Controllo indipendente dei vincoli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ECCA10-406E-421B-A393-3A498379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14750"/>
            <a:ext cx="2381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DDEBE5"/>
          </a:solidFill>
          <a:ln xmlns:a="http://schemas.openxmlformats.org/drawingml/2006/main" w="9525">
            <a:solidFill>
              <a:srgbClr val="E7ECE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39233C-1B12-4069-B6EE-9A026780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BENCHMARK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0D7D98-7F72-4AE2-993C-21AB51C7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10050"/>
            <a:ext cx="2000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Pesi uguali e SPY</a:t>
            </a:r>
          </a:p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Finestra e convenzioni comuni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CE6D08-05F9-4920-8DA9-151F7975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0706B"/>
                </a:solidFill>
                <a:latin typeface="Aptos"/>
                <a:ea typeface="Aptos"/>
                <a:cs typeface="Aptos"/>
              </a:rPr>
              <a:t>Fonte: docs/METHODOLOGY_AND_RESULTS.md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559ECB-6D47-47F6-9741-A6283097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0706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398302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713302-6334-4E23-AF82-CA511B6C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DECISION SUPPORT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68104-C4F3-45C8-A07F-41CD781C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Alternative e spiegazioni verificabili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7332D-1650-499B-A791-084E4B5D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C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b79aba4114164"/>
          <a:stretch xmlns:a="http://schemas.openxmlformats.org/drawingml/2006/main"/>
        </p:blipFill>
        <p:spPr>
          <a:xfrm xmlns:a="http://schemas.openxmlformats.org/drawingml/2006/main">
            <a:off x="685800" y="1706497"/>
            <a:ext cx="6334125" cy="3845055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CC8E6-AE65-4F28-8BA3-58AFAC62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96215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3157F-A073-4F2A-8432-886659AB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193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EF7D3-DAAC-49F0-9A8D-199A9956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71775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50%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B690E-B5A2-4A23-9906-AB1BB775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2892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Moderate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99CB6-7571-4A1C-9C58-B90FE56A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58140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80%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7003E-6932-4EC5-B631-A5504447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3855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Aggressive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922A0C-1A41-4065-A283-50EF5232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457700"/>
            <a:ext cx="3476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60706B"/>
                </a:solidFill>
                <a:latin typeface="Aptos"/>
                <a:ea typeface="Aptos"/>
                <a:cs typeface="Aptos"/>
              </a:rPr>
              <a:t>Percentuale dell’intervallo di rendimento raggiungibile, non probabilità o livello assoluto di rischio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15DA5-1C9E-4B5A-9519-48364E83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0706B"/>
                </a:solidFill>
                <a:latin typeface="Aptos"/>
                <a:ea typeface="Aptos"/>
                <a:cs typeface="Aptos"/>
              </a:rPr>
              <a:t>Screenshot: demo sintetica · 2025-12-31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498B8E-EF7A-47AF-9872-4422609B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0706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751199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96652-3DA3-468E-BC7A-FD4ECB67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EVIDENZA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39601-EF24-4FBC-8B47-D3F766AB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Incertezza e valutazione fuori campione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D7D25-466F-44A1-9B9F-ED805C31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C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72cd74b4c4f0b"/>
          <a:stretch xmlns:a="http://schemas.openxmlformats.org/drawingml/2006/main"/>
        </p:blipFill>
        <p:spPr>
          <a:xfrm xmlns:a="http://schemas.openxmlformats.org/drawingml/2006/main">
            <a:off x="688799" y="1714500"/>
            <a:ext cx="4470752" cy="3667125"/>
          </a:xfrm>
          <a:prstGeom xmlns:a="http://schemas.openxmlformats.org/drawingml/2006/main" prst="roundRect">
            <a:avLst>
              <a:gd name="adj" fmla="val 311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8C39D-FE1E-4958-8060-13B57F40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33550"/>
            <a:ext cx="2381250" cy="25908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DDEBE5"/>
          </a:solidFill>
          <a:ln xmlns:a="http://schemas.openxmlformats.org/drawingml/2006/main" w="9525">
            <a:solidFill>
              <a:srgbClr val="E7ECE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D6B19-F385-4CFA-9F26-CFEB1227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MONTE CARLO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B9079-74AE-4EB3-8D0F-68CA0C74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28850"/>
            <a:ext cx="20002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Pesi costanti</a:t>
            </a:r>
          </a:p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Parametri stimati fissi</a:t>
            </a:r>
          </a:p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Seed riproducibile</a:t>
            </a:r>
          </a:p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Distribuzioni marginali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109CFD-B43C-46D0-BB2E-E11FC89C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33550"/>
            <a:ext cx="2914650" cy="25908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CE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ED9E2-C853-46B4-9685-08E8671C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0500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WALK-FORWARD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0362E6-7643-46BA-8F48-BBAAB011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28850"/>
            <a:ext cx="25336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Solo dati precedenti</a:t>
            </a:r>
          </a:p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Rolling ed expanding</a:t>
            </a:r>
          </a:p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Ribilanciamento mensile</a:t>
            </a:r>
          </a:p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Baseline comuni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D65F0-596B-48EA-AA85-27DBF78F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810125"/>
            <a:ext cx="5829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Le bande simulate non sono intervalli di confidenza. Il backtest non dimostra superiorità futura.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0FF33B-3405-4B54-A35A-BB137BDC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0706B"/>
                </a:solidFill>
                <a:latin typeface="Aptos"/>
                <a:ea typeface="Aptos"/>
                <a:cs typeface="Aptos"/>
              </a:rPr>
              <a:t>Fonti: ADR 0011 · ADR 0013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97F90-8953-4370-8222-615A5246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0706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198409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6305C2-3C04-46B5-9D9C-A256BB2D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BACKTEST CONGELATO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5761D-20C8-4F88-8EBC-3CB223CD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Il risultato dipende da modello e finestra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950C7-914A-4228-8FDA-95B94707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C"/>
          </a:solidFill>
          <a:ln xmlns:a="http://schemas.openxmlformats.org/drawingml/2006/main" w="0">
            <a:noFill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69532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8dc4fe6d20423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E02BF-00C6-4CC5-A6A8-797A1DBE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2857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CE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D2A2D-76A0-4E5E-9C8F-8130DCB5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81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PERIODO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5666E-2043-48A3-B847-809A3457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050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2019-01-02</a:t>
            </a:r>
          </a:p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2025-12-31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12E98-6DD8-421B-9ACF-2331BD31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90875"/>
            <a:ext cx="2857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DEBE5"/>
          </a:solidFill>
          <a:ln xmlns:a="http://schemas.openxmlformats.org/drawingml/2006/main" w="9525">
            <a:solidFill>
              <a:srgbClr val="E7ECE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0FE21-7BD5-4E1A-841C-C1824E30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623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CAMPIONE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D50DBE-E838-4637-B2B9-E6D64EA9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86175"/>
            <a:ext cx="2476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5 azioni e SPY</a:t>
            </a:r>
          </a:p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1.759 rendimenti comuni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9A7F2F-9120-4B34-BDF2-D268FC9F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0125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Pesi uguali: valore finale più alto</a:t>
            </a:r>
          </a:p>
          <a:p xmlns:a="http://schemas.openxmlformats.org/drawingml/2006/main">
            <a:pPr algn="l">
              <a:defRPr sz="172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SPY: volatilità annualizzata più bassa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2B8529-111D-499D-9C5E-C93AAE55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0706B"/>
                </a:solidFill>
                <a:latin typeface="Aptos"/>
                <a:ea typeface="Aptos"/>
                <a:cs typeface="Aptos"/>
              </a:rPr>
              <a:t>USD 10.000 iniziali · costi esclusi · fonte: report Week 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583A08-475E-43AF-B99D-13CE47E1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0706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944223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4270A-AA2C-4302-B4F4-C4422EEB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QUALITÀ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A55E5-D6B5-46D4-80AF-5F6CF265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Riproducibilità verificata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DD7CB-5685-4118-BDC5-CBDAD3DE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C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5c2efbde94882"/>
          <a:srcRect xmlns:a="http://schemas.openxmlformats.org/drawingml/2006/main" l="0" t="9015" r="0" b="90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14500"/>
            <a:ext cx="6191250" cy="3524250"/>
          </a:xfrm>
          <a:prstGeom xmlns:a="http://schemas.openxmlformats.org/drawingml/2006/main" prst="roundRect">
            <a:avLst>
              <a:gd name="adj" fmla="val 324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B2771-5A49-4897-ABEA-3DEA2331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47850"/>
            <a:ext cx="147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4275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227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196A8-CA5C-4EB2-AB6A-EB050346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test 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3FFB0-33C0-4A1A-B36A-606C2B28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147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4275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88640-26C0-4258-A024-36BBE65A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289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test 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47AF9-F652-43BF-8B72-FBC6576E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762375"/>
            <a:ext cx="3810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700"/>
              </a:spcAft>
              <a:buChar char="•"/>
              <a:defRPr sz="165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22923"/>
                </a:solidFill>
                <a:latin typeface="Aptos"/>
                <a:ea typeface="Aptos"/>
                <a:cs typeface="Aptos"/>
              </a:rPr>
              <a:t>Snapshot e configurazioni inclusi</a:t>
            </a:r>
          </a:p>
          <a:p xmlns:a="http://schemas.openxmlformats.org/drawingml/2006/main">
            <a:pPr marL="254000" indent="-127000">
              <a:spcAft>
                <a:spcPts val="700"/>
              </a:spcAft>
              <a:buChar char="•"/>
              <a:defRPr sz="165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22923"/>
                </a:solidFill>
                <a:latin typeface="Aptos"/>
                <a:ea typeface="Aptos"/>
                <a:cs typeface="Aptos"/>
              </a:rPr>
              <a:t>Report HTML e JSON autonomi</a:t>
            </a:r>
          </a:p>
          <a:p xmlns:a="http://schemas.openxmlformats.org/drawingml/2006/main">
            <a:pPr marL="254000" indent="-127000">
              <a:spcAft>
                <a:spcPts val="700"/>
              </a:spcAft>
              <a:buChar char="•"/>
              <a:defRPr sz="165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22923"/>
                </a:solidFill>
                <a:latin typeface="Aptos"/>
                <a:ea typeface="Aptos"/>
                <a:cs typeface="Aptos"/>
              </a:rPr>
              <a:t>Hash canonici riprodotti</a:t>
            </a:r>
          </a:p>
          <a:p xmlns:a="http://schemas.openxmlformats.org/drawingml/2006/main">
            <a:pPr marL="254000" indent="-127000">
              <a:spcAft>
                <a:spcPts val="700"/>
              </a:spcAft>
              <a:buChar char="•"/>
              <a:defRPr sz="165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22923"/>
                </a:solidFill>
                <a:latin typeface="Aptos"/>
                <a:ea typeface="Aptos"/>
                <a:cs typeface="Aptos"/>
              </a:rPr>
              <a:t>Demo senza rete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AF2C1-1410-4C61-9FE6-130EBF41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0706B"/>
                </a:solidFill>
                <a:latin typeface="Aptos"/>
                <a:ea typeface="Aptos"/>
                <a:cs typeface="Aptos"/>
              </a:rPr>
              <a:t>Baseline validata il 10 settembre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97862-77E5-4B87-9771-A78C9420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0706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415443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F1B2A8-DE95-4F8A-A058-5A00AF79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CONCLUSIONE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3A426-850E-431E-9355-AEF2D250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Limiti e sviluppi futuri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0B121-AEE2-4F8D-A15D-857D2313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1B233-2928-473C-A146-CBEE302D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C9862C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C9862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A9CF5-1889-40F2-A444-1AC9B14D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Dati point-in-time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74B18-E8FD-4595-8906-A3CCDE0E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8117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60706B"/>
                </a:solidFill>
                <a:latin typeface="Aptos"/>
                <a:ea typeface="Aptos"/>
                <a:cs typeface="Aptos"/>
              </a:rPr>
              <a:t>Ridurre survivorship e calendar bias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80E08-8D66-4A0B-8318-2C1D243B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098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EF8D3-5995-4AA1-9A18-10E78BBD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C9862C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C9862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AEC17B-13F8-4EE3-B9C1-968D2F4C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Costi e turnover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1960F2-CF3A-488E-874D-3B2795BA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527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60706B"/>
                </a:solidFill>
                <a:latin typeface="Aptos"/>
                <a:ea typeface="Aptos"/>
                <a:cs typeface="Aptos"/>
              </a:rPr>
              <a:t>Avvicinare i target a decisioni eseguibili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F3E55A-447E-4849-ADB5-F9991413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813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2E0D25-CCB6-443D-88AC-90CD3B89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C9862C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C9862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1E771-84A8-4482-84D0-BD6394E6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052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Rischio robusto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A3B7C8-09E5-42ED-BB33-B9AD248F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2427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60706B"/>
                </a:solidFill>
                <a:latin typeface="Aptos"/>
                <a:ea typeface="Aptos"/>
                <a:cs typeface="Aptos"/>
              </a:rPr>
              <a:t>Rappresentare l’incertezza dei parametri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CF0FB1-9B93-4607-90C2-0E91F41F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529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BA8B3B-7C88-473D-AF8C-2A1F1AF9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C9862C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C9862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21BE0-344F-4CC7-B093-393C251A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767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Segnali multipli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65165D-BC24-40C8-B447-43B04356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958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60706B"/>
                </a:solidFill>
                <a:latin typeface="Aptos"/>
                <a:ea typeface="Aptos"/>
                <a:cs typeface="Aptos"/>
              </a:rPr>
              <a:t>Confrontare nuove fonti contro baseline semplici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490363-D339-4830-A5EC-48F2F064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244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34512D-ADFB-4F82-8882-F92FC07D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150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Il contributo di Phase B: collegare modello, alternative, evidenza e spiegazione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BF156A-F361-4638-A542-9D40352A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0706B"/>
                </a:solidFill>
                <a:latin typeface="Aptos"/>
                <a:ea typeface="Aptos"/>
                <a:cs typeface="Aptos"/>
              </a:rPr>
              <a:t>Fonte: docs/LIMITATIONS.md · docs/FUTURE_WORK.md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A36739-28F0-4358-AA05-2B0F45E0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0706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817250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BA1353-A01F-4E32-ACAB-518FD51D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APPENDICE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497DC-A45B-43D3-BEA1-C2808D40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Contratti stabili e superficie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00F01-122C-44EF-9C92-8EF9B41A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449E96-BF7C-4EFD-A578-D2C33670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CE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1DE23-0665-4857-8FB3-AA68D8C8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335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PROVIDER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71B0E-27C5-4F78-A90C-2A336BC8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276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MarketUniverseProvider</a:t>
            </a:r>
          </a:p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MarketDataProvider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3AEB1-1DC1-43FE-83CD-715413D2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62125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EBE5"/>
          </a:solidFill>
          <a:ln xmlns:a="http://schemas.openxmlformats.org/drawingml/2006/main" w="9525">
            <a:solidFill>
              <a:srgbClr val="E7ECE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A2113-B9F4-434E-AB36-0608D5E3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335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MODELLI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0BE03-C715-4695-A4A9-223320C1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57425"/>
            <a:ext cx="276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ExpectedReturnEstimator</a:t>
            </a:r>
          </a:p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RiskEstimator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94ACF-0DBB-4918-869F-2BE181A7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62125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CE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2F2E4F-E7D8-4023-AD6D-6A4823F9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335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MOTORI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F307C2-6C58-4780-B4A4-5872C1B0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57425"/>
            <a:ext cx="276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PortfolioOptimizer</a:t>
            </a:r>
          </a:p>
          <a:p xmlns:a="http://schemas.openxmlformats.org/drawingml/2006/main">
            <a:pPr algn="l">
              <a:defRPr sz="1725" b="0" i="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2923"/>
                </a:solidFill>
                <a:latin typeface="Aptos"/>
                <a:ea typeface="Aptos"/>
                <a:cs typeface="Aptos"/>
              </a:rPr>
              <a:t>SimulationEngine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10041A-EDEF-4C3C-84AA-DEE0E6E4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5715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0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22923"/>
                </a:solidFill>
                <a:latin typeface="Aptos"/>
                <a:ea typeface="Aptos"/>
                <a:cs typeface="Aptos"/>
              </a:rPr>
              <a:t>GET /health e risorse di universo e asset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0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22923"/>
                </a:solidFill>
                <a:latin typeface="Aptos"/>
                <a:ea typeface="Aptos"/>
                <a:cs typeface="Aptos"/>
              </a:rPr>
              <a:t>Valuation, analysis, optimization e frontier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0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22923"/>
                </a:solidFill>
                <a:latin typeface="Aptos"/>
                <a:ea typeface="Aptos"/>
                <a:cs typeface="Aptos"/>
              </a:rPr>
              <a:t>Guided recommendations con job persistiti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0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22923"/>
                </a:solidFill>
                <a:latin typeface="Aptos"/>
                <a:ea typeface="Aptos"/>
                <a:cs typeface="Aptos"/>
              </a:rPr>
              <a:t>Simulation su stime compatte già calcolate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E49D68-EC00-456A-AD7D-E641A402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57625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L’ottimizzatore riceve segnali normalizzati. La fonte del rendimento atteso può cambiare senza riscrivere il modello.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763B7E-0231-41A5-9583-2BD7ABA9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0706B"/>
                </a:solidFill>
                <a:latin typeface="Aptos"/>
                <a:ea typeface="Aptos"/>
                <a:cs typeface="Aptos"/>
              </a:rPr>
              <a:t>Fonti: docs/API.md · docs/DOMAIN_MODEL.md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AFEA1D-E484-4D84-8458-174628FB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0706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034220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D145F-5CCC-4A35-B280-14EDEA19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APPENDICE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FCB3F-7966-440F-856E-37D4D473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Ipotesi e cautele principali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B3C81D-B229-4CFC-AEC6-F64CD2CE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21E93-1E13-41E6-B866-B571AEA1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95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122923"/>
                </a:solidFill>
                <a:latin typeface="Aptos"/>
                <a:ea typeface="Aptos"/>
                <a:cs typeface="Aptos"/>
              </a:rPr>
              <a:t>La membership S&amp;P 500 corrente introduce survivorship bias nella storia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95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122923"/>
                </a:solidFill>
                <a:latin typeface="Aptos"/>
                <a:ea typeface="Aptos"/>
                <a:cs typeface="Aptos"/>
              </a:rPr>
              <a:t>SPY è un proxy ETF total return, non l’indice ufficiale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95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122923"/>
                </a:solidFill>
                <a:latin typeface="Aptos"/>
                <a:ea typeface="Aptos"/>
                <a:cs typeface="Aptos"/>
              </a:rPr>
              <a:t>Media e covarianza storiche sono stime instabili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95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122923"/>
                </a:solidFill>
                <a:latin typeface="Aptos"/>
                <a:ea typeface="Aptos"/>
                <a:cs typeface="Aptos"/>
              </a:rPr>
              <a:t>La simulazione mantiene parametri e pesi costanti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95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122923"/>
                </a:solidFill>
                <a:latin typeface="Aptos"/>
                <a:ea typeface="Aptos"/>
                <a:cs typeface="Aptos"/>
              </a:rPr>
              <a:t>Il backtest usa prezzi adjusted close rivisti ed esecuzione idealizzata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95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122923"/>
                </a:solidFill>
                <a:latin typeface="Aptos"/>
                <a:ea typeface="Aptos"/>
                <a:cs typeface="Aptos"/>
              </a:rPr>
              <a:t>Costi, tasse, slippage, inflazione e quote intere sono esclusi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950">
                <a:solidFill>
                  <a:srgbClr val="122923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122923"/>
                </a:solidFill>
                <a:latin typeface="Aptos"/>
                <a:ea typeface="Aptos"/>
                <a:cs typeface="Aptos"/>
              </a:rPr>
              <a:t>Cache e job guidati supportano un singolo processo 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E47E3-3FBA-42AA-AB3D-A86D6030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CB917-7808-4F16-8984-88E301C1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674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F5B4C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0F5B4C"/>
                </a:solidFill>
                <a:latin typeface="Aptos"/>
                <a:ea typeface="Aptos"/>
                <a:cs typeface="Aptos"/>
              </a:rPr>
              <a:t>Ogni risultato va letto insieme a periodo, unità, modello, provenienza e limitazioni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DEF49-1A2D-4E26-8A60-6F170F0E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0706B"/>
                </a:solidFill>
                <a:latin typeface="Aptos"/>
                <a:ea typeface="Aptos"/>
                <a:cs typeface="Aptos"/>
              </a:rPr>
              <a:t>Fonte: docs/LIMITATIONS.md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2BD7E-8D11-45AD-AB96-359EB264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0706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612931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2026-09-10T21:50:28.9200000Z</dcterms:created>
  <dcterms:modified xsi:type="dcterms:W3CDTF">2026-09-10T21:50:28.9200000Z</dcterms:modified>
</coreProperties>
</file>